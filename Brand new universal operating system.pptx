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B491D"/>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54" d="100"/>
          <a:sy n="54" d="100"/>
        </p:scale>
        <p:origin x="-102" y="-31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F9F0BB0-B2F3-4CC9-AED6-7D48618E5AF8}"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5000"/>
            <a:alpha val="60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0317A5-0971-4A2D-A0C0-04962107CE84}" type="datetimeFigureOut">
              <a:rPr lang="zh-CN" altLang="en-US" smtClean="0"/>
              <a:pPr/>
              <a:t>2025/10/30</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9F0BB0-B2F3-4CC9-AED6-7D48618E5AF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5.xml"/><Relationship Id="rId1" Type="http://schemas.openxmlformats.org/officeDocument/2006/relationships/slideLayout" Target="../slideLayouts/slideLayout7.xml"/><Relationship Id="rId5" Type="http://schemas.openxmlformats.org/officeDocument/2006/relationships/slide" Target="slide8.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6.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457200" y="214290"/>
            <a:ext cx="8229600" cy="857248"/>
          </a:xfrm>
        </p:spPr>
        <p:txBody>
          <a:bodyPr>
            <a:normAutofit/>
          </a:bodyPr>
          <a:lstStyle/>
          <a:p>
            <a:r>
              <a:rPr lang="en-US" sz="2400" dirty="0" smtClean="0">
                <a:solidFill>
                  <a:schemeClr val="bg1"/>
                </a:solidFill>
              </a:rPr>
              <a:t>Brand new universal operating system (desktop &amp; mobile)</a:t>
            </a:r>
            <a:endParaRPr lang="zh-CN" altLang="en-US" sz="2400" dirty="0">
              <a:solidFill>
                <a:schemeClr val="bg1"/>
              </a:solidFill>
            </a:endParaRPr>
          </a:p>
        </p:txBody>
      </p:sp>
      <p:sp>
        <p:nvSpPr>
          <p:cNvPr id="6" name="TextBox 5"/>
          <p:cNvSpPr txBox="1"/>
          <p:nvPr/>
        </p:nvSpPr>
        <p:spPr>
          <a:xfrm>
            <a:off x="428596" y="939961"/>
            <a:ext cx="8358245" cy="5632311"/>
          </a:xfrm>
          <a:prstGeom prst="rect">
            <a:avLst/>
          </a:prstGeom>
          <a:noFill/>
        </p:spPr>
        <p:txBody>
          <a:bodyPr wrap="square" rtlCol="0">
            <a:spAutoFit/>
          </a:bodyPr>
          <a:lstStyle/>
          <a:p>
            <a:r>
              <a:rPr lang="en-US" dirty="0" smtClean="0">
                <a:solidFill>
                  <a:schemeClr val="bg1"/>
                </a:solidFill>
              </a:rPr>
              <a:t>The new operating system should be based on the desktop rather than mobile, separating its entertainment functions while simplifying the system for mobile use, all while ensuring desktop productivity. This is because all smart devices serve as tools first and entertainment second. Entertainment is merely a derived function of desktop devices. The new operating system should be developed following desktop logic rather than modifying desktop systems based on mobile experiences. My concept can be summed up in one sentence as 'making computers like mobile phones,' combined with 'app store mobile-</a:t>
            </a:r>
            <a:r>
              <a:rPr lang="en-US" dirty="0" err="1" smtClean="0">
                <a:solidFill>
                  <a:schemeClr val="bg1"/>
                </a:solidFill>
              </a:rPr>
              <a:t>ization</a:t>
            </a:r>
            <a:r>
              <a:rPr lang="en-US" dirty="0" smtClean="0">
                <a:solidFill>
                  <a:schemeClr val="bg1"/>
                </a:solidFill>
              </a:rPr>
              <a:t> and modularization,' which represents the new operating system. This system features a completely new visual scheme and interaction logic, with pure software functions and efficient interfaces; all consumer-related modules can be uninstalled (with personal modules hidden), and uninstalling all triggers a small </a:t>
            </a:r>
            <a:r>
              <a:rPr lang="en-US" dirty="0" err="1" smtClean="0">
                <a:solidFill>
                  <a:schemeClr val="bg1"/>
                </a:solidFill>
              </a:rPr>
              <a:t>easter</a:t>
            </a:r>
            <a:r>
              <a:rPr lang="en-US" dirty="0" smtClean="0">
                <a:solidFill>
                  <a:schemeClr val="bg1"/>
                </a:solidFill>
              </a:rPr>
              <a:t> egg. Specifically, this means splitting the original app store into four main modules integrated with mobile patterns: 'Personal, Entertainment &amp; Lifestyle, </a:t>
            </a:r>
            <a:r>
              <a:rPr lang="en-US" dirty="0" smtClean="0">
                <a:solidFill>
                  <a:schemeClr val="bg1"/>
                </a:solidFill>
              </a:rPr>
              <a:t>Work, Tools</a:t>
            </a:r>
            <a:r>
              <a:rPr lang="en-US" dirty="0" smtClean="0">
                <a:solidFill>
                  <a:schemeClr val="bg1"/>
                </a:solidFill>
              </a:rPr>
              <a:t>.' </a:t>
            </a:r>
            <a:br>
              <a:rPr lang="en-US" dirty="0" smtClean="0">
                <a:solidFill>
                  <a:schemeClr val="bg1"/>
                </a:solidFill>
              </a:rPr>
            </a:br>
            <a:r>
              <a:rPr lang="en-US" dirty="0" smtClean="0">
                <a:solidFill>
                  <a:schemeClr val="bg1"/>
                </a:solidFill>
              </a:rPr>
              <a:t/>
            </a:r>
            <a:br>
              <a:rPr lang="en-US" dirty="0" smtClean="0">
                <a:solidFill>
                  <a:schemeClr val="bg1"/>
                </a:solidFill>
              </a:rPr>
            </a:br>
            <a:r>
              <a:rPr lang="en-US" dirty="0" smtClean="0">
                <a:solidFill>
                  <a:schemeClr val="bg1"/>
                </a:solidFill>
              </a:rPr>
              <a:t>Designing a new multi-platform operating system starting from the desktop is the only way to surpass Android and Apple, because computers can take over the entertainment functions of phones, but phones cannot take over the work capabilities of computers.</a:t>
            </a:r>
            <a:endParaRPr lang="zh-CN" altLang="en-US" dirty="0">
              <a:solidFill>
                <a:schemeClr val="bg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4" name="直接连接符 3"/>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5" name="直接连接符 4"/>
          <p:cNvCxnSpPr/>
          <p:nvPr/>
        </p:nvCxnSpPr>
        <p:spPr>
          <a:xfrm>
            <a:off x="1714480" y="1571612"/>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6" name="直接连接符 5"/>
          <p:cNvCxnSpPr/>
          <p:nvPr/>
        </p:nvCxnSpPr>
        <p:spPr>
          <a:xfrm>
            <a:off x="1704652" y="5293028"/>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9" name="直接连接符 8"/>
          <p:cNvCxnSpPr/>
          <p:nvPr/>
        </p:nvCxnSpPr>
        <p:spPr>
          <a:xfrm rot="5400000">
            <a:off x="2203918" y="5698450"/>
            <a:ext cx="846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0" name="直接连接符 9"/>
          <p:cNvCxnSpPr/>
          <p:nvPr/>
        </p:nvCxnSpPr>
        <p:spPr>
          <a:xfrm rot="5400000">
            <a:off x="3285442" y="5703370"/>
            <a:ext cx="846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1" name="TextBox 10"/>
          <p:cNvSpPr txBox="1"/>
          <p:nvPr/>
        </p:nvSpPr>
        <p:spPr>
          <a:xfrm>
            <a:off x="5857884" y="571480"/>
            <a:ext cx="2143140" cy="1200329"/>
          </a:xfrm>
          <a:prstGeom prst="rect">
            <a:avLst/>
          </a:prstGeom>
          <a:noFill/>
        </p:spPr>
        <p:txBody>
          <a:bodyPr wrap="square" rtlCol="0">
            <a:spAutoFit/>
          </a:bodyPr>
          <a:lstStyle/>
          <a:p>
            <a:r>
              <a:rPr lang="en-US" dirty="0" smtClean="0">
                <a:solidFill>
                  <a:schemeClr val="bg1"/>
                </a:solidFill>
              </a:rPr>
              <a:t>Four major modules: Personal, </a:t>
            </a:r>
            <a:r>
              <a:rPr lang="en-US" dirty="0" smtClean="0">
                <a:solidFill>
                  <a:schemeClr val="bg1"/>
                </a:solidFill>
              </a:rPr>
              <a:t>Entertainment&amp; </a:t>
            </a:r>
            <a:r>
              <a:rPr lang="en-US" dirty="0" smtClean="0">
                <a:solidFill>
                  <a:schemeClr val="bg1"/>
                </a:solidFill>
              </a:rPr>
              <a:t>Life, Work, Tools</a:t>
            </a:r>
            <a:endParaRPr lang="zh-CN" altLang="en-US" dirty="0">
              <a:solidFill>
                <a:schemeClr val="bg1"/>
              </a:solidFill>
            </a:endParaRPr>
          </a:p>
        </p:txBody>
      </p:sp>
      <p:sp>
        <p:nvSpPr>
          <p:cNvPr id="13" name="TextBox 12">
            <a:hlinkClick r:id="rId2" action="ppaction://hlinksldjump" highlightClick="1"/>
          </p:cNvPr>
          <p:cNvSpPr txBox="1"/>
          <p:nvPr/>
        </p:nvSpPr>
        <p:spPr>
          <a:xfrm>
            <a:off x="2642076" y="5588627"/>
            <a:ext cx="1128260" cy="338554"/>
          </a:xfrm>
          <a:prstGeom prst="rect">
            <a:avLst/>
          </a:prstGeom>
          <a:noFill/>
        </p:spPr>
        <p:txBody>
          <a:bodyPr wrap="square" rtlCol="0">
            <a:spAutoFit/>
          </a:bodyPr>
          <a:lstStyle/>
          <a:p>
            <a:pPr algn="ctr"/>
            <a:r>
              <a:rPr lang="en-US" sz="1600" dirty="0" smtClean="0">
                <a:solidFill>
                  <a:schemeClr val="bg1"/>
                </a:solidFill>
              </a:rPr>
              <a:t>Personal</a:t>
            </a:r>
            <a:endParaRPr lang="zh-CN" altLang="en-US" sz="1600" dirty="0">
              <a:solidFill>
                <a:schemeClr val="bg1"/>
              </a:solidFill>
            </a:endParaRPr>
          </a:p>
        </p:txBody>
      </p:sp>
      <p:sp>
        <p:nvSpPr>
          <p:cNvPr id="14" name="TextBox 13">
            <a:hlinkClick r:id="rId3" action="ppaction://hlinksldjump" highlightClick="1"/>
          </p:cNvPr>
          <p:cNvSpPr txBox="1"/>
          <p:nvPr/>
        </p:nvSpPr>
        <p:spPr>
          <a:xfrm>
            <a:off x="1714480" y="5357826"/>
            <a:ext cx="1000132" cy="830997"/>
          </a:xfrm>
          <a:prstGeom prst="rect">
            <a:avLst/>
          </a:prstGeom>
          <a:noFill/>
        </p:spPr>
        <p:txBody>
          <a:bodyPr wrap="square" rtlCol="0">
            <a:spAutoFit/>
          </a:bodyPr>
          <a:lstStyle/>
          <a:p>
            <a:pPr algn="ctr"/>
            <a:r>
              <a:rPr lang="en-US" sz="1600" dirty="0" smtClean="0">
                <a:solidFill>
                  <a:schemeClr val="bg1"/>
                </a:solidFill>
              </a:rPr>
              <a:t>Entertainment </a:t>
            </a:r>
            <a:r>
              <a:rPr lang="en-US" sz="1600" dirty="0" smtClean="0">
                <a:solidFill>
                  <a:schemeClr val="bg1"/>
                </a:solidFill>
              </a:rPr>
              <a:t>&amp;life</a:t>
            </a:r>
            <a:endParaRPr lang="en-US" altLang="zh-CN" sz="1600" dirty="0" smtClean="0">
              <a:solidFill>
                <a:schemeClr val="bg1"/>
              </a:solidFill>
            </a:endParaRPr>
          </a:p>
        </p:txBody>
      </p:sp>
      <p:sp>
        <p:nvSpPr>
          <p:cNvPr id="15" name="TextBox 14"/>
          <p:cNvSpPr txBox="1"/>
          <p:nvPr/>
        </p:nvSpPr>
        <p:spPr>
          <a:xfrm>
            <a:off x="3643306" y="5529220"/>
            <a:ext cx="1000132" cy="400110"/>
          </a:xfrm>
          <a:prstGeom prst="rect">
            <a:avLst/>
          </a:prstGeom>
          <a:noFill/>
        </p:spPr>
        <p:txBody>
          <a:bodyPr wrap="square" rtlCol="0">
            <a:spAutoFit/>
          </a:bodyPr>
          <a:lstStyle/>
          <a:p>
            <a:pPr algn="ctr"/>
            <a:r>
              <a:rPr lang="en-US" altLang="zh-CN" sz="2000" dirty="0" smtClean="0">
                <a:solidFill>
                  <a:schemeClr val="bg1"/>
                </a:solidFill>
              </a:rPr>
              <a:t>Work</a:t>
            </a:r>
            <a:endParaRPr lang="zh-CN" altLang="en-US" sz="2000" dirty="0">
              <a:solidFill>
                <a:schemeClr val="bg1"/>
              </a:solidFill>
            </a:endParaRPr>
          </a:p>
        </p:txBody>
      </p:sp>
      <p:sp>
        <p:nvSpPr>
          <p:cNvPr id="16" name="TextBox 15">
            <a:hlinkClick r:id="rId4" action="ppaction://hlinksldjump" highlightClick="1"/>
          </p:cNvPr>
          <p:cNvSpPr txBox="1"/>
          <p:nvPr/>
        </p:nvSpPr>
        <p:spPr>
          <a:xfrm>
            <a:off x="2714612" y="1071546"/>
            <a:ext cx="1000132" cy="400110"/>
          </a:xfrm>
          <a:prstGeom prst="rect">
            <a:avLst/>
          </a:prstGeom>
          <a:noFill/>
        </p:spPr>
        <p:txBody>
          <a:bodyPr wrap="square" rtlCol="0">
            <a:spAutoFit/>
          </a:bodyPr>
          <a:lstStyle/>
          <a:p>
            <a:pPr algn="ctr"/>
            <a:r>
              <a:rPr lang="en-US" altLang="zh-CN" sz="2000" dirty="0" smtClean="0">
                <a:solidFill>
                  <a:schemeClr val="bg1"/>
                </a:solidFill>
                <a:latin typeface="宋体"/>
                <a:ea typeface="宋体"/>
              </a:rPr>
              <a:t>Tool</a:t>
            </a:r>
            <a:r>
              <a:rPr lang="zh-CN" altLang="en-US" sz="2000" dirty="0" smtClean="0">
                <a:solidFill>
                  <a:schemeClr val="bg1"/>
                </a:solidFill>
                <a:latin typeface="宋体"/>
                <a:ea typeface="宋体"/>
              </a:rPr>
              <a:t>⊕</a:t>
            </a:r>
            <a:endParaRPr lang="zh-CN" altLang="en-US" sz="2000" dirty="0">
              <a:solidFill>
                <a:schemeClr val="bg1"/>
              </a:solidFill>
            </a:endParaRPr>
          </a:p>
        </p:txBody>
      </p:sp>
      <p:sp>
        <p:nvSpPr>
          <p:cNvPr id="17" name="TextBox 16"/>
          <p:cNvSpPr txBox="1"/>
          <p:nvPr/>
        </p:nvSpPr>
        <p:spPr>
          <a:xfrm>
            <a:off x="2500298" y="688748"/>
            <a:ext cx="1357322" cy="338554"/>
          </a:xfrm>
          <a:prstGeom prst="rect">
            <a:avLst/>
          </a:prstGeom>
          <a:noFill/>
        </p:spPr>
        <p:txBody>
          <a:bodyPr wrap="square" rtlCol="0">
            <a:spAutoFit/>
          </a:bodyPr>
          <a:lstStyle/>
          <a:p>
            <a:pPr algn="ctr"/>
            <a:r>
              <a:rPr lang="en-US" sz="1600" dirty="0" smtClean="0">
                <a:solidFill>
                  <a:schemeClr val="bg1"/>
                </a:solidFill>
              </a:rPr>
              <a:t>Status bar</a:t>
            </a:r>
            <a:endParaRPr lang="zh-CN" altLang="en-US" sz="1600" dirty="0">
              <a:solidFill>
                <a:schemeClr val="bg1"/>
              </a:solidFill>
            </a:endParaRPr>
          </a:p>
        </p:txBody>
      </p:sp>
      <p:sp>
        <p:nvSpPr>
          <p:cNvPr id="19" name="椭圆 18">
            <a:hlinkClick r:id="rId5" action="ppaction://hlinksldjump" highlightClick="1"/>
          </p:cNvPr>
          <p:cNvSpPr/>
          <p:nvPr/>
        </p:nvSpPr>
        <p:spPr>
          <a:xfrm>
            <a:off x="2788352" y="2911884"/>
            <a:ext cx="714380" cy="7143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2256488" y="-24"/>
            <a:ext cx="1928826" cy="707886"/>
          </a:xfrm>
          <a:prstGeom prst="rect">
            <a:avLst/>
          </a:prstGeom>
          <a:noFill/>
        </p:spPr>
        <p:txBody>
          <a:bodyPr wrap="square" rtlCol="0">
            <a:spAutoFit/>
          </a:bodyPr>
          <a:lstStyle/>
          <a:p>
            <a:pPr algn="ctr"/>
            <a:r>
              <a:rPr lang="en-US" altLang="zh-CN" sz="4000" dirty="0" smtClean="0">
                <a:solidFill>
                  <a:schemeClr val="bg1"/>
                </a:solidFill>
              </a:rPr>
              <a:t>Home</a:t>
            </a:r>
            <a:endParaRPr lang="zh-CN" altLang="en-US" sz="4000" dirty="0">
              <a:solidFill>
                <a:schemeClr val="bg1"/>
              </a:solidFill>
            </a:endParaRPr>
          </a:p>
        </p:txBody>
      </p:sp>
      <p:sp>
        <p:nvSpPr>
          <p:cNvPr id="21" name="右大括号 20"/>
          <p:cNvSpPr/>
          <p:nvPr/>
        </p:nvSpPr>
        <p:spPr>
          <a:xfrm rot="5400000">
            <a:off x="3071802" y="5143512"/>
            <a:ext cx="214314" cy="2214578"/>
          </a:xfrm>
          <a:prstGeom prst="rightBrace">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25" name="TextBox 24"/>
          <p:cNvSpPr txBox="1"/>
          <p:nvPr/>
        </p:nvSpPr>
        <p:spPr>
          <a:xfrm>
            <a:off x="1428728" y="6320056"/>
            <a:ext cx="5500726" cy="523220"/>
          </a:xfrm>
          <a:prstGeom prst="rect">
            <a:avLst/>
          </a:prstGeom>
          <a:noFill/>
        </p:spPr>
        <p:txBody>
          <a:bodyPr wrap="square" rtlCol="0">
            <a:spAutoFit/>
          </a:bodyPr>
          <a:lstStyle/>
          <a:p>
            <a:r>
              <a:rPr lang="en-US" sz="1400" dirty="0" smtClean="0">
                <a:solidFill>
                  <a:schemeClr val="bg1"/>
                </a:solidFill>
              </a:rPr>
              <a:t>Both can be clicked. 'Work' is combined with 'Entertainment Life' and will no longer be displayed separately.</a:t>
            </a:r>
            <a:endParaRPr lang="zh-CN" altLang="en-US" sz="1400" dirty="0">
              <a:solidFill>
                <a:schemeClr val="bg1"/>
              </a:solidFill>
            </a:endParaRPr>
          </a:p>
        </p:txBody>
      </p:sp>
      <p:sp>
        <p:nvSpPr>
          <p:cNvPr id="26" name="TextBox 25"/>
          <p:cNvSpPr txBox="1"/>
          <p:nvPr/>
        </p:nvSpPr>
        <p:spPr>
          <a:xfrm>
            <a:off x="2000232" y="3714752"/>
            <a:ext cx="2357454" cy="1569660"/>
          </a:xfrm>
          <a:prstGeom prst="rect">
            <a:avLst/>
          </a:prstGeom>
          <a:noFill/>
        </p:spPr>
        <p:txBody>
          <a:bodyPr wrap="square" rtlCol="0">
            <a:spAutoFit/>
          </a:bodyPr>
          <a:lstStyle/>
          <a:p>
            <a:r>
              <a:rPr lang="en-US" sz="1200" dirty="0" smtClean="0">
                <a:solidFill>
                  <a:schemeClr val="bg1"/>
                </a:solidFill>
              </a:rPr>
              <a:t>Press and hold this area under heavy pressure to bring up the settings interface; double-click this area to bring up the phone interface; triple-click to bring up the file management interface. (On the desktop, use the Windows key instead)</a:t>
            </a:r>
            <a:endParaRPr lang="zh-CN" altLang="en-US" sz="1200" dirty="0">
              <a:solidFill>
                <a:schemeClr val="bg1"/>
              </a:solidFill>
            </a:endParaRPr>
          </a:p>
        </p:txBody>
      </p:sp>
      <p:sp>
        <p:nvSpPr>
          <p:cNvPr id="27" name="TextBox 26"/>
          <p:cNvSpPr txBox="1"/>
          <p:nvPr/>
        </p:nvSpPr>
        <p:spPr>
          <a:xfrm>
            <a:off x="5357818" y="2000240"/>
            <a:ext cx="3286148" cy="4031873"/>
          </a:xfrm>
          <a:prstGeom prst="rect">
            <a:avLst/>
          </a:prstGeom>
          <a:noFill/>
        </p:spPr>
        <p:txBody>
          <a:bodyPr wrap="square" rtlCol="0">
            <a:spAutoFit/>
          </a:bodyPr>
          <a:lstStyle/>
          <a:p>
            <a:pPr marL="342900" indent="-342900">
              <a:buAutoNum type="arabicPeriod"/>
            </a:pPr>
            <a:r>
              <a:rPr lang="en-US" sz="1600" dirty="0" smtClean="0">
                <a:solidFill>
                  <a:schemeClr val="bg1"/>
                </a:solidFill>
              </a:rPr>
              <a:t>On </a:t>
            </a:r>
            <a:r>
              <a:rPr lang="en-US" sz="1600" dirty="0" smtClean="0">
                <a:solidFill>
                  <a:schemeClr val="bg1"/>
                </a:solidFill>
              </a:rPr>
              <a:t>any other page, press and hold the blue circular area to open the settings interface of the corresponding software. </a:t>
            </a:r>
            <a:endParaRPr lang="en-US" sz="1600" dirty="0" smtClean="0">
              <a:solidFill>
                <a:schemeClr val="bg1"/>
              </a:solidFill>
            </a:endParaRPr>
          </a:p>
          <a:p>
            <a:pPr marL="342900" indent="-342900">
              <a:buAutoNum type="arabicPeriod"/>
            </a:pPr>
            <a:r>
              <a:rPr lang="en-US" sz="1600" dirty="0" smtClean="0">
                <a:solidFill>
                  <a:schemeClr val="bg1"/>
                </a:solidFill>
              </a:rPr>
              <a:t> </a:t>
            </a:r>
            <a:r>
              <a:rPr lang="en-US" sz="1600" dirty="0" smtClean="0">
                <a:solidFill>
                  <a:schemeClr val="bg1"/>
                </a:solidFill>
              </a:rPr>
              <a:t>The settings functions of all installed software are consolidated in the system settings page (on the desktop, they still remain within the software itself</a:t>
            </a:r>
            <a:r>
              <a:rPr lang="en-US" sz="1600" dirty="0" smtClean="0">
                <a:solidFill>
                  <a:schemeClr val="bg1"/>
                </a:solidFill>
              </a:rPr>
              <a:t>).</a:t>
            </a:r>
          </a:p>
          <a:p>
            <a:pPr marL="342900" indent="-342900">
              <a:buAutoNum type="arabicPeriod"/>
            </a:pPr>
            <a:r>
              <a:rPr lang="en-US" sz="1600" dirty="0" smtClean="0">
                <a:solidFill>
                  <a:schemeClr val="bg1"/>
                </a:solidFill>
              </a:rPr>
              <a:t> </a:t>
            </a:r>
            <a:r>
              <a:rPr lang="en-US" sz="1600" dirty="0" smtClean="0">
                <a:solidFill>
                  <a:schemeClr val="bg1"/>
                </a:solidFill>
              </a:rPr>
              <a:t>The settings interface includes the settings functions of all installed software; deleting the software will also remove its corresponding settings interface.</a:t>
            </a:r>
            <a:endParaRPr lang="zh-CN" altLang="en-US" sz="1600" dirty="0">
              <a:solidFill>
                <a:schemeClr val="bg1"/>
              </a:solidFill>
            </a:endParaRPr>
          </a:p>
        </p:txBody>
      </p:sp>
      <p:sp>
        <p:nvSpPr>
          <p:cNvPr id="28" name="圆角右箭头 27"/>
          <p:cNvSpPr/>
          <p:nvPr/>
        </p:nvSpPr>
        <p:spPr>
          <a:xfrm flipH="1">
            <a:off x="3571868" y="1199674"/>
            <a:ext cx="285752" cy="500066"/>
          </a:xfrm>
          <a:prstGeom prst="bentArrow">
            <a:avLst/>
          </a:prstGeom>
          <a:solidFill>
            <a:srgbClr val="C00000"/>
          </a:solid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solidFill>
                <a:schemeClr val="tx1"/>
              </a:solidFill>
            </a:endParaRPr>
          </a:p>
        </p:txBody>
      </p:sp>
      <p:sp>
        <p:nvSpPr>
          <p:cNvPr id="29" name="TextBox 28"/>
          <p:cNvSpPr txBox="1"/>
          <p:nvPr/>
        </p:nvSpPr>
        <p:spPr>
          <a:xfrm>
            <a:off x="2044476" y="1714488"/>
            <a:ext cx="2384648" cy="1015663"/>
          </a:xfrm>
          <a:prstGeom prst="rect">
            <a:avLst/>
          </a:prstGeom>
          <a:noFill/>
        </p:spPr>
        <p:txBody>
          <a:bodyPr wrap="square" rtlCol="0">
            <a:spAutoFit/>
          </a:bodyPr>
          <a:lstStyle/>
          <a:p>
            <a:pPr algn="ctr"/>
            <a:r>
              <a:rPr lang="en-US" sz="1200" dirty="0" smtClean="0">
                <a:solidFill>
                  <a:srgbClr val="C00000"/>
                </a:solidFill>
              </a:rPr>
              <a:t>Click to add a new tool (after the phone is activated for the first time, the toolbar is empty and waiting to be added; click ⊕ to enter the tool market)</a:t>
            </a:r>
            <a:endParaRPr lang="zh-CN" altLang="en-US" sz="1200" dirty="0">
              <a:solidFill>
                <a:srgbClr val="C00000"/>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14480" y="729000"/>
            <a:ext cx="2880000" cy="5400000"/>
            <a:chOff x="1714480" y="729000"/>
            <a:chExt cx="2880000" cy="5400000"/>
          </a:xfrm>
        </p:grpSpPr>
        <p:sp>
          <p:nvSpPr>
            <p:cNvPr id="2" name="圆角矩形 1"/>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3" name="直接连接符 2"/>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sp>
        <p:nvSpPr>
          <p:cNvPr id="5" name="TextBox 4"/>
          <p:cNvSpPr txBox="1"/>
          <p:nvPr/>
        </p:nvSpPr>
        <p:spPr>
          <a:xfrm>
            <a:off x="5643570" y="428604"/>
            <a:ext cx="3286148" cy="2554545"/>
          </a:xfrm>
          <a:prstGeom prst="rect">
            <a:avLst/>
          </a:prstGeom>
          <a:noFill/>
        </p:spPr>
        <p:txBody>
          <a:bodyPr wrap="square" rtlCol="0">
            <a:spAutoFit/>
          </a:bodyPr>
          <a:lstStyle/>
          <a:p>
            <a:r>
              <a:rPr lang="en-US" sz="1600" dirty="0" smtClean="0">
                <a:solidFill>
                  <a:schemeClr val="bg1"/>
                </a:solidFill>
              </a:rPr>
              <a:t>The first row contains commonly used system pre-installed software, such as the alarm clock and calendar. Below each category of tools are similar software developed by other developers, available for consumers to purchase, allowing them to replace the system's default tools.</a:t>
            </a:r>
            <a:endParaRPr lang="en-US" altLang="zh-CN" sz="1600" dirty="0" smtClean="0">
              <a:solidFill>
                <a:schemeClr val="bg1"/>
              </a:solidFill>
            </a:endParaRPr>
          </a:p>
        </p:txBody>
      </p:sp>
      <p:sp>
        <p:nvSpPr>
          <p:cNvPr id="6" name="右大括号 5"/>
          <p:cNvSpPr/>
          <p:nvPr/>
        </p:nvSpPr>
        <p:spPr>
          <a:xfrm rot="10800000">
            <a:off x="1000100" y="1928802"/>
            <a:ext cx="571504" cy="3143272"/>
          </a:xfrm>
          <a:prstGeom prst="rightBrace">
            <a:avLst/>
          </a:prstGeom>
          <a:ln w="38100"/>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7" name="右大括号 6"/>
          <p:cNvSpPr/>
          <p:nvPr/>
        </p:nvSpPr>
        <p:spPr>
          <a:xfrm rot="10800000" flipH="1">
            <a:off x="4714877" y="1928801"/>
            <a:ext cx="571504" cy="3143272"/>
          </a:xfrm>
          <a:prstGeom prst="rightBrace">
            <a:avLst/>
          </a:prstGeom>
          <a:ln w="38100"/>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8" name="TextBox 7"/>
          <p:cNvSpPr txBox="1"/>
          <p:nvPr/>
        </p:nvSpPr>
        <p:spPr>
          <a:xfrm>
            <a:off x="142844" y="2928934"/>
            <a:ext cx="1000132" cy="1754326"/>
          </a:xfrm>
          <a:prstGeom prst="rect">
            <a:avLst/>
          </a:prstGeom>
          <a:noFill/>
        </p:spPr>
        <p:txBody>
          <a:bodyPr wrap="square" rtlCol="0">
            <a:spAutoFit/>
          </a:bodyPr>
          <a:lstStyle/>
          <a:p>
            <a:r>
              <a:rPr lang="en-US" dirty="0" smtClean="0">
                <a:solidFill>
                  <a:schemeClr val="bg1"/>
                </a:solidFill>
              </a:rPr>
              <a:t>Swipe left (from the edge inward)</a:t>
            </a:r>
            <a:endParaRPr lang="en-US" altLang="zh-CN" dirty="0" smtClean="0">
              <a:solidFill>
                <a:schemeClr val="bg1"/>
              </a:solidFill>
            </a:endParaRPr>
          </a:p>
        </p:txBody>
      </p:sp>
      <p:sp>
        <p:nvSpPr>
          <p:cNvPr id="9" name="TextBox 8"/>
          <p:cNvSpPr txBox="1"/>
          <p:nvPr/>
        </p:nvSpPr>
        <p:spPr>
          <a:xfrm>
            <a:off x="5286380" y="3145224"/>
            <a:ext cx="2571768" cy="1569660"/>
          </a:xfrm>
          <a:prstGeom prst="rect">
            <a:avLst/>
          </a:prstGeom>
          <a:noFill/>
        </p:spPr>
        <p:txBody>
          <a:bodyPr wrap="square" rtlCol="0">
            <a:spAutoFit/>
          </a:bodyPr>
          <a:lstStyle/>
          <a:p>
            <a:r>
              <a:rPr lang="en-US" sz="1600" dirty="0" smtClean="0">
                <a:solidFill>
                  <a:schemeClr val="bg1"/>
                </a:solidFill>
              </a:rPr>
              <a:t>Swipe right (swipe left to go back, swipe right to go forward. According to user habits, the left and right swipe functions can be switched)</a:t>
            </a:r>
            <a:endParaRPr lang="en-US" altLang="zh-CN" sz="1600" dirty="0" smtClean="0">
              <a:solidFill>
                <a:schemeClr val="bg1"/>
              </a:solidFill>
            </a:endParaRPr>
          </a:p>
        </p:txBody>
      </p:sp>
      <p:cxnSp>
        <p:nvCxnSpPr>
          <p:cNvPr id="10" name="直接连接符 9"/>
          <p:cNvCxnSpPr/>
          <p:nvPr/>
        </p:nvCxnSpPr>
        <p:spPr>
          <a:xfrm>
            <a:off x="1714480" y="1571612"/>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1" name="TextBox 10">
            <a:hlinkClick r:id="rId2" action="ppaction://hlinksldjump" highlightClick="1"/>
          </p:cNvPr>
          <p:cNvSpPr txBox="1"/>
          <p:nvPr/>
        </p:nvSpPr>
        <p:spPr>
          <a:xfrm>
            <a:off x="1785918" y="1142984"/>
            <a:ext cx="714380" cy="461665"/>
          </a:xfrm>
          <a:prstGeom prst="rect">
            <a:avLst/>
          </a:prstGeom>
          <a:noFill/>
        </p:spPr>
        <p:txBody>
          <a:bodyPr wrap="square" rtlCol="0">
            <a:spAutoFit/>
          </a:bodyPr>
          <a:lstStyle/>
          <a:p>
            <a:r>
              <a:rPr lang="en-US" sz="1200" dirty="0" smtClean="0">
                <a:solidFill>
                  <a:schemeClr val="bg1"/>
                </a:solidFill>
              </a:rPr>
              <a:t>Alarm clock</a:t>
            </a:r>
            <a:endParaRPr lang="en-US" altLang="zh-CN" sz="1200" dirty="0" smtClean="0">
              <a:solidFill>
                <a:schemeClr val="bg1"/>
              </a:solidFill>
            </a:endParaRPr>
          </a:p>
        </p:txBody>
      </p:sp>
      <p:sp>
        <p:nvSpPr>
          <p:cNvPr id="12" name="TextBox 11"/>
          <p:cNvSpPr txBox="1"/>
          <p:nvPr/>
        </p:nvSpPr>
        <p:spPr>
          <a:xfrm>
            <a:off x="2500298" y="1249592"/>
            <a:ext cx="714380" cy="253916"/>
          </a:xfrm>
          <a:prstGeom prst="rect">
            <a:avLst/>
          </a:prstGeom>
          <a:noFill/>
        </p:spPr>
        <p:txBody>
          <a:bodyPr wrap="square" rtlCol="0">
            <a:spAutoFit/>
          </a:bodyPr>
          <a:lstStyle/>
          <a:p>
            <a:r>
              <a:rPr lang="en-US" sz="1050" dirty="0" smtClean="0">
                <a:solidFill>
                  <a:schemeClr val="bg1"/>
                </a:solidFill>
              </a:rPr>
              <a:t>Calendar</a:t>
            </a:r>
            <a:endParaRPr lang="en-US" altLang="zh-CN" sz="1050" dirty="0" smtClean="0">
              <a:solidFill>
                <a:schemeClr val="bg1"/>
              </a:solidFill>
            </a:endParaRPr>
          </a:p>
        </p:txBody>
      </p:sp>
      <p:sp>
        <p:nvSpPr>
          <p:cNvPr id="13" name="TextBox 12"/>
          <p:cNvSpPr txBox="1"/>
          <p:nvPr/>
        </p:nvSpPr>
        <p:spPr>
          <a:xfrm>
            <a:off x="3143240" y="928670"/>
            <a:ext cx="714380" cy="584775"/>
          </a:xfrm>
          <a:prstGeom prst="rect">
            <a:avLst/>
          </a:prstGeom>
          <a:noFill/>
        </p:spPr>
        <p:txBody>
          <a:bodyPr wrap="square" rtlCol="0">
            <a:spAutoFit/>
          </a:bodyPr>
          <a:lstStyle/>
          <a:p>
            <a:pPr algn="ctr"/>
            <a:r>
              <a:rPr lang="en-US" altLang="zh-CN" sz="3200" dirty="0" smtClean="0">
                <a:solidFill>
                  <a:schemeClr val="bg1"/>
                </a:solidFill>
              </a:rPr>
              <a:t>…</a:t>
            </a:r>
          </a:p>
        </p:txBody>
      </p:sp>
      <p:sp>
        <p:nvSpPr>
          <p:cNvPr id="14" name="TextBox 13"/>
          <p:cNvSpPr txBox="1"/>
          <p:nvPr/>
        </p:nvSpPr>
        <p:spPr>
          <a:xfrm>
            <a:off x="3714744" y="1142984"/>
            <a:ext cx="714380" cy="307777"/>
          </a:xfrm>
          <a:prstGeom prst="rect">
            <a:avLst/>
          </a:prstGeom>
          <a:noFill/>
        </p:spPr>
        <p:txBody>
          <a:bodyPr wrap="square" rtlCol="0">
            <a:spAutoFit/>
          </a:bodyPr>
          <a:lstStyle/>
          <a:p>
            <a:r>
              <a:rPr lang="en-US" altLang="zh-CN" sz="1400" dirty="0" smtClean="0">
                <a:solidFill>
                  <a:schemeClr val="bg1"/>
                </a:solidFill>
              </a:rPr>
              <a:t>Other</a:t>
            </a:r>
            <a:endParaRPr lang="en-US" altLang="zh-CN" sz="1400" dirty="0" smtClean="0">
              <a:solidFill>
                <a:schemeClr val="bg1"/>
              </a:solidFill>
            </a:endParaRPr>
          </a:p>
        </p:txBody>
      </p:sp>
      <p:sp>
        <p:nvSpPr>
          <p:cNvPr id="15" name="TextBox 14"/>
          <p:cNvSpPr txBox="1"/>
          <p:nvPr/>
        </p:nvSpPr>
        <p:spPr>
          <a:xfrm>
            <a:off x="2214546" y="1002410"/>
            <a:ext cx="428628" cy="369332"/>
          </a:xfrm>
          <a:prstGeom prst="rect">
            <a:avLst/>
          </a:prstGeom>
          <a:noFill/>
        </p:spPr>
        <p:txBody>
          <a:bodyPr wrap="square" rtlCol="0">
            <a:spAutoFit/>
          </a:bodyPr>
          <a:lstStyle/>
          <a:p>
            <a:r>
              <a:rPr lang="zh-CN" altLang="en-US" dirty="0" smtClean="0">
                <a:solidFill>
                  <a:schemeClr val="bg1"/>
                </a:solidFill>
                <a:latin typeface="宋体"/>
                <a:ea typeface="宋体"/>
              </a:rPr>
              <a:t>⊕</a:t>
            </a:r>
            <a:endParaRPr lang="en-US" altLang="zh-CN" dirty="0" smtClean="0">
              <a:solidFill>
                <a:schemeClr val="bg1"/>
              </a:solidFill>
            </a:endParaRPr>
          </a:p>
        </p:txBody>
      </p:sp>
      <p:sp>
        <p:nvSpPr>
          <p:cNvPr id="16" name="TextBox 15"/>
          <p:cNvSpPr txBox="1"/>
          <p:nvPr/>
        </p:nvSpPr>
        <p:spPr>
          <a:xfrm>
            <a:off x="2928926" y="1002410"/>
            <a:ext cx="428628" cy="369332"/>
          </a:xfrm>
          <a:prstGeom prst="rect">
            <a:avLst/>
          </a:prstGeom>
          <a:noFill/>
        </p:spPr>
        <p:txBody>
          <a:bodyPr wrap="square" rtlCol="0">
            <a:spAutoFit/>
          </a:bodyPr>
          <a:lstStyle/>
          <a:p>
            <a:r>
              <a:rPr lang="zh-CN" altLang="en-US" dirty="0" smtClean="0">
                <a:solidFill>
                  <a:schemeClr val="bg1"/>
                </a:solidFill>
                <a:latin typeface="宋体"/>
                <a:ea typeface="宋体"/>
              </a:rPr>
              <a:t>⊕</a:t>
            </a:r>
            <a:endParaRPr lang="en-US" altLang="zh-CN" dirty="0" smtClean="0">
              <a:solidFill>
                <a:schemeClr val="bg1"/>
              </a:solidFill>
            </a:endParaRPr>
          </a:p>
        </p:txBody>
      </p:sp>
      <p:sp>
        <p:nvSpPr>
          <p:cNvPr id="17" name="TextBox 16"/>
          <p:cNvSpPr txBox="1"/>
          <p:nvPr/>
        </p:nvSpPr>
        <p:spPr>
          <a:xfrm>
            <a:off x="4155818" y="1000108"/>
            <a:ext cx="428628" cy="369332"/>
          </a:xfrm>
          <a:prstGeom prst="rect">
            <a:avLst/>
          </a:prstGeom>
          <a:noFill/>
        </p:spPr>
        <p:txBody>
          <a:bodyPr wrap="square" rtlCol="0">
            <a:spAutoFit/>
          </a:bodyPr>
          <a:lstStyle/>
          <a:p>
            <a:r>
              <a:rPr lang="zh-CN" altLang="en-US" dirty="0" smtClean="0">
                <a:solidFill>
                  <a:schemeClr val="bg1"/>
                </a:solidFill>
                <a:latin typeface="宋体"/>
                <a:ea typeface="宋体"/>
              </a:rPr>
              <a:t>⊕</a:t>
            </a:r>
            <a:endParaRPr lang="en-US" altLang="zh-CN" dirty="0" smtClean="0">
              <a:solidFill>
                <a:schemeClr val="bg1"/>
              </a:solidFill>
            </a:endParaRPr>
          </a:p>
        </p:txBody>
      </p:sp>
      <p:sp>
        <p:nvSpPr>
          <p:cNvPr id="20" name="圆角矩形 19"/>
          <p:cNvSpPr/>
          <p:nvPr/>
        </p:nvSpPr>
        <p:spPr>
          <a:xfrm>
            <a:off x="1857356" y="1684992"/>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21" name="圆角矩形 20"/>
          <p:cNvSpPr/>
          <p:nvPr/>
        </p:nvSpPr>
        <p:spPr>
          <a:xfrm>
            <a:off x="2584182" y="1687294"/>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22" name="圆角矩形 21"/>
          <p:cNvSpPr/>
          <p:nvPr/>
        </p:nvSpPr>
        <p:spPr>
          <a:xfrm>
            <a:off x="3786182" y="1684992"/>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23" name="TextBox 22"/>
          <p:cNvSpPr txBox="1"/>
          <p:nvPr/>
        </p:nvSpPr>
        <p:spPr>
          <a:xfrm>
            <a:off x="3113744" y="3143248"/>
            <a:ext cx="714380" cy="646331"/>
          </a:xfrm>
          <a:prstGeom prst="rect">
            <a:avLst/>
          </a:prstGeom>
          <a:noFill/>
        </p:spPr>
        <p:txBody>
          <a:bodyPr wrap="square" rtlCol="0">
            <a:spAutoFit/>
          </a:bodyPr>
          <a:lstStyle/>
          <a:p>
            <a:pPr algn="ctr"/>
            <a:r>
              <a:rPr lang="en-US" altLang="zh-CN" sz="3600" b="1" dirty="0" smtClean="0">
                <a:solidFill>
                  <a:schemeClr val="bg1"/>
                </a:solidFill>
              </a:rPr>
              <a:t>…</a:t>
            </a:r>
          </a:p>
        </p:txBody>
      </p:sp>
      <p:sp>
        <p:nvSpPr>
          <p:cNvPr id="24" name="TextBox 23"/>
          <p:cNvSpPr txBox="1"/>
          <p:nvPr/>
        </p:nvSpPr>
        <p:spPr>
          <a:xfrm>
            <a:off x="1142976" y="6286520"/>
            <a:ext cx="4786346" cy="307777"/>
          </a:xfrm>
          <a:prstGeom prst="rect">
            <a:avLst/>
          </a:prstGeom>
          <a:solidFill>
            <a:schemeClr val="accent1">
              <a:lumMod val="60000"/>
              <a:lumOff val="40000"/>
            </a:schemeClr>
          </a:solidFill>
        </p:spPr>
        <p:txBody>
          <a:bodyPr wrap="square" rtlCol="0">
            <a:spAutoFit/>
          </a:bodyPr>
          <a:lstStyle/>
          <a:p>
            <a:pPr algn="ctr"/>
            <a:r>
              <a:rPr lang="en-US" sz="1400" dirty="0" smtClean="0">
                <a:solidFill>
                  <a:schemeClr val="bg1"/>
                </a:solidFill>
              </a:rPr>
              <a:t>Similar software developed by other developers</a:t>
            </a:r>
            <a:endParaRPr lang="en-US" altLang="zh-CN" sz="1400" dirty="0" smtClean="0">
              <a:solidFill>
                <a:schemeClr val="bg1"/>
              </a:solidFill>
            </a:endParaRPr>
          </a:p>
        </p:txBody>
      </p:sp>
      <p:grpSp>
        <p:nvGrpSpPr>
          <p:cNvPr id="30" name="组合 29"/>
          <p:cNvGrpSpPr/>
          <p:nvPr/>
        </p:nvGrpSpPr>
        <p:grpSpPr>
          <a:xfrm>
            <a:off x="3783934" y="714356"/>
            <a:ext cx="288000" cy="288000"/>
            <a:chOff x="7872896" y="3857628"/>
            <a:chExt cx="342442" cy="542008"/>
          </a:xfrm>
        </p:grpSpPr>
        <p:sp>
          <p:nvSpPr>
            <p:cNvPr id="27" name="矩形 26"/>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8" name="矩形 27"/>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9" name="矩形 28"/>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31" name="TextBox 30"/>
          <p:cNvSpPr txBox="1"/>
          <p:nvPr/>
        </p:nvSpPr>
        <p:spPr>
          <a:xfrm>
            <a:off x="2428860" y="181253"/>
            <a:ext cx="2071702" cy="461665"/>
          </a:xfrm>
          <a:prstGeom prst="rect">
            <a:avLst/>
          </a:prstGeom>
          <a:noFill/>
        </p:spPr>
        <p:txBody>
          <a:bodyPr wrap="square" rtlCol="0">
            <a:spAutoFit/>
          </a:bodyPr>
          <a:lstStyle/>
          <a:p>
            <a:r>
              <a:rPr lang="en-US" sz="2400" dirty="0" smtClean="0">
                <a:solidFill>
                  <a:schemeClr val="bg1"/>
                </a:solidFill>
              </a:rPr>
              <a:t>Tool Module</a:t>
            </a:r>
            <a:endParaRPr lang="en-US" altLang="zh-CN" sz="2400" dirty="0" smtClean="0">
              <a:solidFill>
                <a:schemeClr val="bg1"/>
              </a:solidFill>
            </a:endParaRPr>
          </a:p>
        </p:txBody>
      </p:sp>
      <p:sp>
        <p:nvSpPr>
          <p:cNvPr id="33" name="笑脸 32">
            <a:hlinkClick r:id="rId3" action="ppaction://hlinksldjump" highlightClick="1"/>
          </p:cNvPr>
          <p:cNvSpPr/>
          <p:nvPr/>
        </p:nvSpPr>
        <p:spPr>
          <a:xfrm>
            <a:off x="428596" y="500042"/>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32" name="右大括号 31"/>
          <p:cNvSpPr/>
          <p:nvPr/>
        </p:nvSpPr>
        <p:spPr>
          <a:xfrm rot="16200000" flipH="1">
            <a:off x="2786050" y="4929199"/>
            <a:ext cx="571504" cy="2143140"/>
          </a:xfrm>
          <a:prstGeom prst="rightBrace">
            <a:avLst/>
          </a:prstGeom>
          <a:ln w="38100">
            <a:solidFill>
              <a:srgbClr val="FF0000"/>
            </a:solidFill>
          </a:ln>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714480" y="729000"/>
            <a:ext cx="2880000" cy="5400000"/>
            <a:chOff x="1714480" y="729000"/>
            <a:chExt cx="2880000" cy="5400000"/>
          </a:xfrm>
        </p:grpSpPr>
        <p:sp>
          <p:nvSpPr>
            <p:cNvPr id="7" name="圆角矩形 6"/>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8" name="直接连接符 7"/>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grpSp>
        <p:nvGrpSpPr>
          <p:cNvPr id="42" name="组合 41"/>
          <p:cNvGrpSpPr/>
          <p:nvPr/>
        </p:nvGrpSpPr>
        <p:grpSpPr>
          <a:xfrm>
            <a:off x="2485550" y="1180829"/>
            <a:ext cx="1285884" cy="262655"/>
            <a:chOff x="2485550" y="769360"/>
            <a:chExt cx="1285884" cy="262655"/>
          </a:xfrm>
        </p:grpSpPr>
        <p:grpSp>
          <p:nvGrpSpPr>
            <p:cNvPr id="20" name="组合 19"/>
            <p:cNvGrpSpPr/>
            <p:nvPr/>
          </p:nvGrpSpPr>
          <p:grpSpPr>
            <a:xfrm>
              <a:off x="2485550" y="769360"/>
              <a:ext cx="216000" cy="216000"/>
              <a:chOff x="5715008" y="1785926"/>
              <a:chExt cx="571504" cy="571504"/>
            </a:xfrm>
          </p:grpSpPr>
          <p:sp>
            <p:nvSpPr>
              <p:cNvPr id="11" name="椭圆 10"/>
              <p:cNvSpPr/>
              <p:nvPr/>
            </p:nvSpPr>
            <p:spPr>
              <a:xfrm>
                <a:off x="5715008" y="1785926"/>
                <a:ext cx="571504" cy="571504"/>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18" name="直接连接符 17"/>
              <p:cNvCxnSpPr/>
              <p:nvPr/>
            </p:nvCxnSpPr>
            <p:spPr>
              <a:xfrm rot="16200000" flipH="1">
                <a:off x="5892760" y="1962884"/>
                <a:ext cx="216000" cy="158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6000760" y="2071678"/>
                <a:ext cx="144000" cy="1588"/>
              </a:xfrm>
              <a:prstGeom prst="line">
                <a:avLst/>
              </a:prstGeom>
              <a:ln w="19050">
                <a:solidFill>
                  <a:srgbClr val="002060"/>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3280892" y="771046"/>
              <a:ext cx="490542" cy="260969"/>
              <a:chOff x="3280892" y="771046"/>
              <a:chExt cx="490542" cy="260969"/>
            </a:xfrm>
          </p:grpSpPr>
          <p:sp>
            <p:nvSpPr>
              <p:cNvPr id="21" name="圆角矩形 20"/>
              <p:cNvSpPr/>
              <p:nvPr/>
            </p:nvSpPr>
            <p:spPr>
              <a:xfrm>
                <a:off x="3357554" y="771046"/>
                <a:ext cx="216000" cy="21600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22" name="TextBox 21"/>
              <p:cNvSpPr txBox="1"/>
              <p:nvPr/>
            </p:nvSpPr>
            <p:spPr>
              <a:xfrm>
                <a:off x="3280892" y="785794"/>
                <a:ext cx="490542" cy="246221"/>
              </a:xfrm>
              <a:prstGeom prst="rect">
                <a:avLst/>
              </a:prstGeom>
              <a:noFill/>
            </p:spPr>
            <p:txBody>
              <a:bodyPr wrap="square" rtlCol="0">
                <a:spAutoFit/>
              </a:bodyPr>
              <a:lstStyle/>
              <a:p>
                <a:r>
                  <a:rPr lang="en-US" altLang="zh-CN" sz="1000" b="1" dirty="0" smtClean="0">
                    <a:solidFill>
                      <a:schemeClr val="accent1">
                        <a:lumMod val="75000"/>
                      </a:schemeClr>
                    </a:solidFill>
                  </a:rPr>
                  <a:t>29</a:t>
                </a:r>
              </a:p>
            </p:txBody>
          </p:sp>
        </p:grpSp>
      </p:grpSp>
      <p:cxnSp>
        <p:nvCxnSpPr>
          <p:cNvPr id="30" name="曲线连接符 29"/>
          <p:cNvCxnSpPr/>
          <p:nvPr/>
        </p:nvCxnSpPr>
        <p:spPr>
          <a:xfrm>
            <a:off x="2143108" y="1500174"/>
            <a:ext cx="642942" cy="571504"/>
          </a:xfrm>
          <a:prstGeom prst="curvedConnector3">
            <a:avLst>
              <a:gd name="adj1" fmla="val 1828"/>
            </a:avLst>
          </a:prstGeom>
          <a:ln w="5715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38" name="曲线连接符 37"/>
          <p:cNvCxnSpPr/>
          <p:nvPr/>
        </p:nvCxnSpPr>
        <p:spPr>
          <a:xfrm flipH="1">
            <a:off x="3357554" y="1500174"/>
            <a:ext cx="642942" cy="571504"/>
          </a:xfrm>
          <a:prstGeom prst="curvedConnector3">
            <a:avLst>
              <a:gd name="adj1" fmla="val 1828"/>
            </a:avLst>
          </a:prstGeom>
          <a:ln w="57150">
            <a:solidFill>
              <a:schemeClr val="accent5">
                <a:lumMod val="50000"/>
              </a:schemeClr>
            </a:solidFill>
            <a:tailEnd type="arrow"/>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2295508" y="2362794"/>
            <a:ext cx="1704988" cy="1200329"/>
          </a:xfrm>
          <a:prstGeom prst="rect">
            <a:avLst/>
          </a:prstGeom>
          <a:noFill/>
        </p:spPr>
        <p:txBody>
          <a:bodyPr wrap="square" rtlCol="0">
            <a:spAutoFit/>
          </a:bodyPr>
          <a:lstStyle/>
          <a:p>
            <a:r>
              <a:rPr lang="en-US" dirty="0" smtClean="0">
                <a:solidFill>
                  <a:schemeClr val="bg1"/>
                </a:solidFill>
              </a:rPr>
              <a:t>Swipe left/right to see all installed tools and software.</a:t>
            </a:r>
            <a:endParaRPr lang="en-US" altLang="zh-CN" dirty="0" smtClean="0">
              <a:solidFill>
                <a:schemeClr val="bg1"/>
              </a:solidFill>
            </a:endParaRPr>
          </a:p>
        </p:txBody>
      </p:sp>
      <p:cxnSp>
        <p:nvCxnSpPr>
          <p:cNvPr id="43" name="直接连接符 42"/>
          <p:cNvCxnSpPr/>
          <p:nvPr/>
        </p:nvCxnSpPr>
        <p:spPr>
          <a:xfrm>
            <a:off x="1714480" y="1571612"/>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45" name="直接箭头连接符 44"/>
          <p:cNvCxnSpPr/>
          <p:nvPr/>
        </p:nvCxnSpPr>
        <p:spPr>
          <a:xfrm rot="16200000" flipV="1">
            <a:off x="2184898" y="756146"/>
            <a:ext cx="416486" cy="214314"/>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rot="5400000" flipH="1" flipV="1">
            <a:off x="3428992" y="714356"/>
            <a:ext cx="428628" cy="285752"/>
          </a:xfrm>
          <a:prstGeom prst="straightConnector1">
            <a:avLst/>
          </a:prstGeom>
          <a:ln w="12700">
            <a:solidFill>
              <a:schemeClr val="bg1"/>
            </a:solidFill>
            <a:tailEnd type="arrow"/>
          </a:ln>
        </p:spPr>
        <p:style>
          <a:lnRef idx="1">
            <a:schemeClr val="accent1"/>
          </a:lnRef>
          <a:fillRef idx="0">
            <a:schemeClr val="accent1"/>
          </a:fillRef>
          <a:effectRef idx="0">
            <a:schemeClr val="accent1"/>
          </a:effectRef>
          <a:fontRef idx="minor">
            <a:schemeClr val="tx1"/>
          </a:fontRef>
        </p:style>
      </p:cxnSp>
      <p:grpSp>
        <p:nvGrpSpPr>
          <p:cNvPr id="48" name="组合 47"/>
          <p:cNvGrpSpPr/>
          <p:nvPr/>
        </p:nvGrpSpPr>
        <p:grpSpPr>
          <a:xfrm>
            <a:off x="3783934" y="714356"/>
            <a:ext cx="288000" cy="288000"/>
            <a:chOff x="7872896" y="3857628"/>
            <a:chExt cx="342442" cy="542008"/>
          </a:xfrm>
        </p:grpSpPr>
        <p:sp>
          <p:nvSpPr>
            <p:cNvPr id="49" name="矩形 48"/>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0" name="矩形 49"/>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1" name="矩形 50"/>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25" name="笑脸 24">
            <a:hlinkClick r:id="rId2" action="ppaction://hlinksldjump" highlightClick="1"/>
          </p:cNvPr>
          <p:cNvSpPr/>
          <p:nvPr/>
        </p:nvSpPr>
        <p:spPr>
          <a:xfrm>
            <a:off x="428596" y="500042"/>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26" name="TextBox 25">
            <a:hlinkClick r:id="rId3" action="ppaction://hlinksldjump" highlightClick="1"/>
          </p:cNvPr>
          <p:cNvSpPr txBox="1"/>
          <p:nvPr/>
        </p:nvSpPr>
        <p:spPr>
          <a:xfrm>
            <a:off x="1928794" y="181253"/>
            <a:ext cx="714380" cy="461665"/>
          </a:xfrm>
          <a:prstGeom prst="rect">
            <a:avLst/>
          </a:prstGeom>
          <a:noFill/>
        </p:spPr>
        <p:txBody>
          <a:bodyPr wrap="square" rtlCol="0">
            <a:spAutoFit/>
          </a:bodyPr>
          <a:lstStyle/>
          <a:p>
            <a:r>
              <a:rPr lang="en-US" sz="1200" dirty="0" smtClean="0">
                <a:solidFill>
                  <a:schemeClr val="bg1"/>
                </a:solidFill>
              </a:rPr>
              <a:t>Alarm clock</a:t>
            </a:r>
            <a:endParaRPr lang="en-US" altLang="zh-CN" sz="1200" dirty="0" smtClean="0">
              <a:solidFill>
                <a:schemeClr val="bg1"/>
              </a:solidFill>
            </a:endParaRPr>
          </a:p>
        </p:txBody>
      </p:sp>
      <p:sp>
        <p:nvSpPr>
          <p:cNvPr id="27" name="TextBox 26"/>
          <p:cNvSpPr txBox="1"/>
          <p:nvPr/>
        </p:nvSpPr>
        <p:spPr>
          <a:xfrm>
            <a:off x="3428992" y="317564"/>
            <a:ext cx="714380" cy="253916"/>
          </a:xfrm>
          <a:prstGeom prst="rect">
            <a:avLst/>
          </a:prstGeom>
          <a:noFill/>
        </p:spPr>
        <p:txBody>
          <a:bodyPr wrap="square" rtlCol="0">
            <a:spAutoFit/>
          </a:bodyPr>
          <a:lstStyle/>
          <a:p>
            <a:r>
              <a:rPr lang="en-US" sz="1050" dirty="0" smtClean="0">
                <a:solidFill>
                  <a:schemeClr val="bg1"/>
                </a:solidFill>
              </a:rPr>
              <a:t>Calendar</a:t>
            </a:r>
            <a:endParaRPr lang="en-US" altLang="zh-CN" sz="1050" dirty="0" smtClean="0">
              <a:solidFill>
                <a:schemeClr val="bg1"/>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14480" y="729000"/>
            <a:ext cx="2880000" cy="5400000"/>
            <a:chOff x="1714480" y="729000"/>
            <a:chExt cx="2880000" cy="5400000"/>
          </a:xfrm>
        </p:grpSpPr>
        <p:sp>
          <p:nvSpPr>
            <p:cNvPr id="4" name="圆角矩形 3"/>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5" name="直接连接符 4"/>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sp>
        <p:nvSpPr>
          <p:cNvPr id="6" name="TextBox 5"/>
          <p:cNvSpPr txBox="1"/>
          <p:nvPr/>
        </p:nvSpPr>
        <p:spPr>
          <a:xfrm>
            <a:off x="1357290" y="58143"/>
            <a:ext cx="3643338" cy="584775"/>
          </a:xfrm>
          <a:prstGeom prst="rect">
            <a:avLst/>
          </a:prstGeom>
          <a:noFill/>
        </p:spPr>
        <p:txBody>
          <a:bodyPr wrap="square" rtlCol="0">
            <a:spAutoFit/>
          </a:bodyPr>
          <a:lstStyle/>
          <a:p>
            <a:pPr algn="ctr"/>
            <a:r>
              <a:rPr lang="en-US" sz="3200" dirty="0" smtClean="0">
                <a:solidFill>
                  <a:schemeClr val="bg1"/>
                </a:solidFill>
              </a:rPr>
              <a:t>Personal Module</a:t>
            </a:r>
            <a:endParaRPr lang="zh-CN" altLang="en-US" sz="3200" dirty="0">
              <a:solidFill>
                <a:schemeClr val="bg1"/>
              </a:solidFill>
            </a:endParaRPr>
          </a:p>
        </p:txBody>
      </p:sp>
      <p:sp>
        <p:nvSpPr>
          <p:cNvPr id="7" name="TextBox 6"/>
          <p:cNvSpPr txBox="1"/>
          <p:nvPr/>
        </p:nvSpPr>
        <p:spPr>
          <a:xfrm>
            <a:off x="5286380" y="1643050"/>
            <a:ext cx="3062310" cy="2862322"/>
          </a:xfrm>
          <a:prstGeom prst="rect">
            <a:avLst/>
          </a:prstGeom>
          <a:noFill/>
        </p:spPr>
        <p:txBody>
          <a:bodyPr wrap="square" rtlCol="0">
            <a:spAutoFit/>
          </a:bodyPr>
          <a:lstStyle/>
          <a:p>
            <a:pPr marL="342900" indent="-342900">
              <a:buAutoNum type="arabicPeriod"/>
            </a:pPr>
            <a:r>
              <a:rPr lang="en-US" dirty="0" smtClean="0">
                <a:solidFill>
                  <a:schemeClr val="bg1"/>
                </a:solidFill>
              </a:rPr>
              <a:t>The </a:t>
            </a:r>
            <a:r>
              <a:rPr lang="en-US" dirty="0" smtClean="0">
                <a:solidFill>
                  <a:schemeClr val="bg1"/>
                </a:solidFill>
              </a:rPr>
              <a:t>software under this module is fixed software. </a:t>
            </a:r>
            <a:endParaRPr lang="en-US" dirty="0" smtClean="0">
              <a:solidFill>
                <a:schemeClr val="bg1"/>
              </a:solidFill>
            </a:endParaRPr>
          </a:p>
          <a:p>
            <a:pPr marL="342900" indent="-342900">
              <a:buAutoNum type="arabicPeriod"/>
            </a:pPr>
            <a:r>
              <a:rPr lang="en-US" dirty="0" smtClean="0">
                <a:solidFill>
                  <a:schemeClr val="bg1"/>
                </a:solidFill>
              </a:rPr>
              <a:t> </a:t>
            </a:r>
            <a:r>
              <a:rPr lang="en-US" dirty="0" smtClean="0">
                <a:solidFill>
                  <a:schemeClr val="bg1"/>
                </a:solidFill>
              </a:rPr>
              <a:t>The four software programs—Communication, Wallet, X, and </a:t>
            </a:r>
            <a:r>
              <a:rPr lang="en-US" dirty="0" err="1" smtClean="0">
                <a:solidFill>
                  <a:schemeClr val="bg1"/>
                </a:solidFill>
              </a:rPr>
              <a:t>Grok</a:t>
            </a:r>
            <a:r>
              <a:rPr lang="en-US" dirty="0" smtClean="0">
                <a:solidFill>
                  <a:schemeClr val="bg1"/>
                </a:solidFill>
              </a:rPr>
              <a:t>—can all be uninstalled and retained as needed. These are system applications and cannot be replaced.</a:t>
            </a:r>
            <a:endParaRPr lang="en-US" altLang="zh-CN" dirty="0" smtClean="0">
              <a:solidFill>
                <a:schemeClr val="bg1"/>
              </a:solidFill>
            </a:endParaRPr>
          </a:p>
        </p:txBody>
      </p:sp>
      <p:cxnSp>
        <p:nvCxnSpPr>
          <p:cNvPr id="22" name="直接连接符 21"/>
          <p:cNvCxnSpPr/>
          <p:nvPr/>
        </p:nvCxnSpPr>
        <p:spPr>
          <a:xfrm>
            <a:off x="1704652" y="5293028"/>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3" name="直接连接符 22"/>
          <p:cNvCxnSpPr/>
          <p:nvPr/>
        </p:nvCxnSpPr>
        <p:spPr>
          <a:xfrm>
            <a:off x="1714480" y="5715016"/>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4" name="直接连接符 23"/>
          <p:cNvCxnSpPr/>
          <p:nvPr/>
        </p:nvCxnSpPr>
        <p:spPr>
          <a:xfrm rot="5400000">
            <a:off x="2928034" y="5498784"/>
            <a:ext cx="432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5" name="直接连接符 24"/>
          <p:cNvCxnSpPr/>
          <p:nvPr/>
        </p:nvCxnSpPr>
        <p:spPr>
          <a:xfrm rot="5400000">
            <a:off x="2213654" y="5501594"/>
            <a:ext cx="432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6" name="直接连接符 25"/>
          <p:cNvCxnSpPr/>
          <p:nvPr/>
        </p:nvCxnSpPr>
        <p:spPr>
          <a:xfrm rot="5400000">
            <a:off x="3642414" y="5501594"/>
            <a:ext cx="432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27" name="TextBox 26">
            <a:hlinkClick r:id="rId2" action="ppaction://hlinksldjump"/>
          </p:cNvPr>
          <p:cNvSpPr txBox="1"/>
          <p:nvPr/>
        </p:nvSpPr>
        <p:spPr>
          <a:xfrm>
            <a:off x="1643042" y="5321558"/>
            <a:ext cx="838208" cy="400110"/>
          </a:xfrm>
          <a:prstGeom prst="rect">
            <a:avLst/>
          </a:prstGeom>
          <a:noFill/>
        </p:spPr>
        <p:txBody>
          <a:bodyPr wrap="square" rtlCol="0">
            <a:spAutoFit/>
          </a:bodyPr>
          <a:lstStyle/>
          <a:p>
            <a:r>
              <a:rPr lang="en-US" sz="1000" dirty="0" smtClean="0">
                <a:solidFill>
                  <a:schemeClr val="bg1"/>
                </a:solidFill>
              </a:rPr>
              <a:t>Communication</a:t>
            </a:r>
            <a:endParaRPr lang="en-US" altLang="zh-CN" sz="1000" dirty="0" smtClean="0">
              <a:solidFill>
                <a:schemeClr val="bg1"/>
              </a:solidFill>
            </a:endParaRPr>
          </a:p>
        </p:txBody>
      </p:sp>
      <p:sp>
        <p:nvSpPr>
          <p:cNvPr id="28" name="TextBox 27"/>
          <p:cNvSpPr txBox="1"/>
          <p:nvPr/>
        </p:nvSpPr>
        <p:spPr>
          <a:xfrm>
            <a:off x="2428860" y="5345684"/>
            <a:ext cx="838208" cy="338554"/>
          </a:xfrm>
          <a:prstGeom prst="rect">
            <a:avLst/>
          </a:prstGeom>
          <a:noFill/>
        </p:spPr>
        <p:txBody>
          <a:bodyPr wrap="square" rtlCol="0">
            <a:spAutoFit/>
          </a:bodyPr>
          <a:lstStyle/>
          <a:p>
            <a:r>
              <a:rPr lang="en-US" sz="1600" dirty="0" smtClean="0">
                <a:solidFill>
                  <a:schemeClr val="bg1"/>
                </a:solidFill>
              </a:rPr>
              <a:t>Wallet</a:t>
            </a:r>
            <a:endParaRPr lang="en-US" altLang="zh-CN" sz="1600" dirty="0" smtClean="0">
              <a:solidFill>
                <a:schemeClr val="bg1"/>
              </a:solidFill>
            </a:endParaRPr>
          </a:p>
        </p:txBody>
      </p:sp>
      <p:sp>
        <p:nvSpPr>
          <p:cNvPr id="29" name="TextBox 28"/>
          <p:cNvSpPr txBox="1"/>
          <p:nvPr/>
        </p:nvSpPr>
        <p:spPr>
          <a:xfrm>
            <a:off x="3357554" y="5345684"/>
            <a:ext cx="390532" cy="369332"/>
          </a:xfrm>
          <a:prstGeom prst="rect">
            <a:avLst/>
          </a:prstGeom>
          <a:noFill/>
        </p:spPr>
        <p:txBody>
          <a:bodyPr wrap="square" rtlCol="0">
            <a:spAutoFit/>
          </a:bodyPr>
          <a:lstStyle/>
          <a:p>
            <a:r>
              <a:rPr lang="en-US" altLang="zh-CN" dirty="0" smtClean="0">
                <a:solidFill>
                  <a:schemeClr val="bg1"/>
                </a:solidFill>
              </a:rPr>
              <a:t>X</a:t>
            </a:r>
          </a:p>
        </p:txBody>
      </p:sp>
      <p:sp>
        <p:nvSpPr>
          <p:cNvPr id="30" name="TextBox 29"/>
          <p:cNvSpPr txBox="1"/>
          <p:nvPr/>
        </p:nvSpPr>
        <p:spPr>
          <a:xfrm>
            <a:off x="3899562" y="5318490"/>
            <a:ext cx="838208" cy="369332"/>
          </a:xfrm>
          <a:prstGeom prst="rect">
            <a:avLst/>
          </a:prstGeom>
          <a:noFill/>
        </p:spPr>
        <p:txBody>
          <a:bodyPr wrap="square" rtlCol="0">
            <a:spAutoFit/>
          </a:bodyPr>
          <a:lstStyle/>
          <a:p>
            <a:r>
              <a:rPr lang="en-US" altLang="zh-CN" dirty="0" err="1" smtClean="0">
                <a:solidFill>
                  <a:schemeClr val="bg1"/>
                </a:solidFill>
              </a:rPr>
              <a:t>Grok</a:t>
            </a:r>
            <a:endParaRPr lang="en-US" altLang="zh-CN" dirty="0" smtClean="0">
              <a:solidFill>
                <a:schemeClr val="bg1"/>
              </a:solidFill>
            </a:endParaRPr>
          </a:p>
        </p:txBody>
      </p:sp>
      <p:sp>
        <p:nvSpPr>
          <p:cNvPr id="31" name="左大括号 30"/>
          <p:cNvSpPr/>
          <p:nvPr/>
        </p:nvSpPr>
        <p:spPr>
          <a:xfrm>
            <a:off x="1571604" y="5357826"/>
            <a:ext cx="71438" cy="285752"/>
          </a:xfrm>
          <a:prstGeom prst="leftBrace">
            <a:avLst/>
          </a:prstGeom>
          <a:ln>
            <a:solidFill>
              <a:srgbClr val="FF0000"/>
            </a:solidFill>
          </a:ln>
        </p:spPr>
        <p:style>
          <a:lnRef idx="2">
            <a:schemeClr val="accent3"/>
          </a:lnRef>
          <a:fillRef idx="0">
            <a:schemeClr val="accent3"/>
          </a:fillRef>
          <a:effectRef idx="1">
            <a:schemeClr val="accent3"/>
          </a:effectRef>
          <a:fontRef idx="minor">
            <a:schemeClr val="tx1"/>
          </a:fontRef>
        </p:style>
        <p:txBody>
          <a:bodyPr rtlCol="0" anchor="ctr"/>
          <a:lstStyle/>
          <a:p>
            <a:pPr algn="ctr"/>
            <a:endParaRPr lang="zh-CN" altLang="en-US"/>
          </a:p>
        </p:txBody>
      </p:sp>
      <p:sp>
        <p:nvSpPr>
          <p:cNvPr id="32" name="TextBox 31"/>
          <p:cNvSpPr txBox="1"/>
          <p:nvPr/>
        </p:nvSpPr>
        <p:spPr>
          <a:xfrm>
            <a:off x="214282" y="4643446"/>
            <a:ext cx="1357322" cy="1569660"/>
          </a:xfrm>
          <a:prstGeom prst="rect">
            <a:avLst/>
          </a:prstGeom>
          <a:noFill/>
        </p:spPr>
        <p:txBody>
          <a:bodyPr wrap="square" rtlCol="0">
            <a:spAutoFit/>
          </a:bodyPr>
          <a:lstStyle/>
          <a:p>
            <a:r>
              <a:rPr lang="en-US" sz="1600" dirty="0" smtClean="0">
                <a:solidFill>
                  <a:srgbClr val="C00000"/>
                </a:solidFill>
              </a:rPr>
              <a:t>This column's toggle effect is the same as a browser tab.</a:t>
            </a:r>
            <a:endParaRPr lang="en-US" altLang="zh-CN" sz="1600" dirty="0" smtClean="0">
              <a:solidFill>
                <a:srgbClr val="C00000"/>
              </a:solidFill>
            </a:endParaRPr>
          </a:p>
        </p:txBody>
      </p:sp>
      <p:cxnSp>
        <p:nvCxnSpPr>
          <p:cNvPr id="34" name="直接箭头连接符 33"/>
          <p:cNvCxnSpPr/>
          <p:nvPr/>
        </p:nvCxnSpPr>
        <p:spPr>
          <a:xfrm rot="5400000">
            <a:off x="1714480" y="5929330"/>
            <a:ext cx="642942" cy="71438"/>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rot="16200000" flipH="1">
            <a:off x="4036214" y="5822172"/>
            <a:ext cx="571506" cy="214318"/>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1357290" y="6305156"/>
            <a:ext cx="1857388" cy="338554"/>
          </a:xfrm>
          <a:prstGeom prst="rect">
            <a:avLst/>
          </a:prstGeom>
          <a:noFill/>
        </p:spPr>
        <p:txBody>
          <a:bodyPr wrap="square" rtlCol="0">
            <a:spAutoFit/>
          </a:bodyPr>
          <a:lstStyle/>
          <a:p>
            <a:r>
              <a:rPr lang="en-US" sz="1600" dirty="0" smtClean="0">
                <a:solidFill>
                  <a:srgbClr val="C00000"/>
                </a:solidFill>
              </a:rPr>
              <a:t>Default display</a:t>
            </a:r>
            <a:endParaRPr lang="en-US" altLang="zh-CN" sz="1600" dirty="0" smtClean="0">
              <a:solidFill>
                <a:srgbClr val="C00000"/>
              </a:solidFill>
            </a:endParaRPr>
          </a:p>
        </p:txBody>
      </p:sp>
      <p:sp>
        <p:nvSpPr>
          <p:cNvPr id="39" name="TextBox 38"/>
          <p:cNvSpPr txBox="1"/>
          <p:nvPr/>
        </p:nvSpPr>
        <p:spPr>
          <a:xfrm>
            <a:off x="3714744" y="6201811"/>
            <a:ext cx="3429024" cy="584775"/>
          </a:xfrm>
          <a:prstGeom prst="rect">
            <a:avLst/>
          </a:prstGeom>
          <a:noFill/>
        </p:spPr>
        <p:txBody>
          <a:bodyPr wrap="square" rtlCol="0">
            <a:spAutoFit/>
          </a:bodyPr>
          <a:lstStyle/>
          <a:p>
            <a:r>
              <a:rPr lang="en-US" sz="1600" dirty="0" smtClean="0">
                <a:solidFill>
                  <a:srgbClr val="C00000"/>
                </a:solidFill>
              </a:rPr>
              <a:t>Add search engine functionality; the desktop version displays by default</a:t>
            </a:r>
            <a:endParaRPr lang="en-US" altLang="zh-CN" sz="1600" dirty="0" smtClean="0">
              <a:solidFill>
                <a:srgbClr val="C00000"/>
              </a:solidFill>
            </a:endParaRPr>
          </a:p>
        </p:txBody>
      </p:sp>
      <p:grpSp>
        <p:nvGrpSpPr>
          <p:cNvPr id="41" name="组合 40"/>
          <p:cNvGrpSpPr/>
          <p:nvPr/>
        </p:nvGrpSpPr>
        <p:grpSpPr>
          <a:xfrm>
            <a:off x="3783934" y="714356"/>
            <a:ext cx="288000" cy="288000"/>
            <a:chOff x="7872896" y="3857628"/>
            <a:chExt cx="342442" cy="542008"/>
          </a:xfrm>
        </p:grpSpPr>
        <p:sp>
          <p:nvSpPr>
            <p:cNvPr id="42" name="矩形 41"/>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3" name="矩形 42"/>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4" name="矩形 43"/>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33" name="笑脸 32">
            <a:hlinkClick r:id="rId3" action="ppaction://hlinksldjump" highlightClick="1"/>
          </p:cNvPr>
          <p:cNvSpPr/>
          <p:nvPr/>
        </p:nvSpPr>
        <p:spPr>
          <a:xfrm>
            <a:off x="428596" y="500042"/>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14480" y="729000"/>
            <a:ext cx="2880000" cy="5400000"/>
            <a:chOff x="1714480" y="729000"/>
            <a:chExt cx="2880000" cy="5400000"/>
          </a:xfrm>
        </p:grpSpPr>
        <p:sp>
          <p:nvSpPr>
            <p:cNvPr id="4" name="圆角矩形 3"/>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5" name="直接连接符 4"/>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sp>
        <p:nvSpPr>
          <p:cNvPr id="14" name="TextBox 13"/>
          <p:cNvSpPr txBox="1"/>
          <p:nvPr/>
        </p:nvSpPr>
        <p:spPr>
          <a:xfrm>
            <a:off x="1785918" y="181253"/>
            <a:ext cx="5143536" cy="461665"/>
          </a:xfrm>
          <a:prstGeom prst="rect">
            <a:avLst/>
          </a:prstGeom>
          <a:noFill/>
        </p:spPr>
        <p:txBody>
          <a:bodyPr wrap="square" rtlCol="0">
            <a:spAutoFit/>
          </a:bodyPr>
          <a:lstStyle/>
          <a:p>
            <a:pPr algn="ctr"/>
            <a:r>
              <a:rPr lang="en-US" sz="2400" dirty="0" smtClean="0">
                <a:solidFill>
                  <a:schemeClr val="bg1"/>
                </a:solidFill>
              </a:rPr>
              <a:t>Communication - Chat Interface</a:t>
            </a:r>
            <a:endParaRPr lang="zh-CN" altLang="en-US" sz="2400" dirty="0">
              <a:solidFill>
                <a:schemeClr val="bg1"/>
              </a:solidFill>
            </a:endParaRPr>
          </a:p>
        </p:txBody>
      </p:sp>
      <p:cxnSp>
        <p:nvCxnSpPr>
          <p:cNvPr id="15" name="直接连接符 14"/>
          <p:cNvCxnSpPr/>
          <p:nvPr/>
        </p:nvCxnSpPr>
        <p:spPr>
          <a:xfrm>
            <a:off x="1704652" y="5293028"/>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6" name="直接连接符 15"/>
          <p:cNvCxnSpPr/>
          <p:nvPr/>
        </p:nvCxnSpPr>
        <p:spPr>
          <a:xfrm>
            <a:off x="1714480" y="5713428"/>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7" name="直接连接符 16"/>
          <p:cNvCxnSpPr/>
          <p:nvPr/>
        </p:nvCxnSpPr>
        <p:spPr>
          <a:xfrm>
            <a:off x="1714480" y="1428736"/>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8" name="直接连接符 17"/>
          <p:cNvCxnSpPr/>
          <p:nvPr/>
        </p:nvCxnSpPr>
        <p:spPr>
          <a:xfrm rot="5400000">
            <a:off x="2926446" y="5501594"/>
            <a:ext cx="432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9" name="TextBox 18"/>
          <p:cNvSpPr txBox="1"/>
          <p:nvPr/>
        </p:nvSpPr>
        <p:spPr>
          <a:xfrm>
            <a:off x="2128360" y="5330936"/>
            <a:ext cx="838208" cy="369332"/>
          </a:xfrm>
          <a:prstGeom prst="rect">
            <a:avLst/>
          </a:prstGeom>
          <a:noFill/>
        </p:spPr>
        <p:txBody>
          <a:bodyPr wrap="square" rtlCol="0">
            <a:spAutoFit/>
          </a:bodyPr>
          <a:lstStyle/>
          <a:p>
            <a:r>
              <a:rPr lang="en-US" altLang="zh-CN" dirty="0" smtClean="0">
                <a:solidFill>
                  <a:schemeClr val="bg1"/>
                </a:solidFill>
              </a:rPr>
              <a:t>Chat</a:t>
            </a:r>
            <a:endParaRPr lang="en-US" altLang="zh-CN" dirty="0" smtClean="0">
              <a:solidFill>
                <a:schemeClr val="bg1"/>
              </a:solidFill>
            </a:endParaRPr>
          </a:p>
        </p:txBody>
      </p:sp>
      <p:sp>
        <p:nvSpPr>
          <p:cNvPr id="20" name="TextBox 19"/>
          <p:cNvSpPr txBox="1"/>
          <p:nvPr/>
        </p:nvSpPr>
        <p:spPr>
          <a:xfrm>
            <a:off x="3428992" y="5343078"/>
            <a:ext cx="1285884" cy="369332"/>
          </a:xfrm>
          <a:prstGeom prst="rect">
            <a:avLst/>
          </a:prstGeom>
          <a:noFill/>
        </p:spPr>
        <p:txBody>
          <a:bodyPr wrap="square" rtlCol="0">
            <a:spAutoFit/>
          </a:bodyPr>
          <a:lstStyle/>
          <a:p>
            <a:r>
              <a:rPr lang="en-US" dirty="0" smtClean="0">
                <a:solidFill>
                  <a:schemeClr val="bg1"/>
                </a:solidFill>
              </a:rPr>
              <a:t>Contacts</a:t>
            </a:r>
            <a:endParaRPr lang="en-US" altLang="zh-CN" dirty="0" smtClean="0">
              <a:solidFill>
                <a:schemeClr val="bg1"/>
              </a:solidFill>
            </a:endParaRPr>
          </a:p>
        </p:txBody>
      </p:sp>
      <p:cxnSp>
        <p:nvCxnSpPr>
          <p:cNvPr id="21" name="直接箭头连接符 20"/>
          <p:cNvCxnSpPr/>
          <p:nvPr/>
        </p:nvCxnSpPr>
        <p:spPr>
          <a:xfrm rot="16200000" flipH="1">
            <a:off x="4095931" y="5779508"/>
            <a:ext cx="612000" cy="285754"/>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143372" y="6201811"/>
            <a:ext cx="3571900" cy="584775"/>
          </a:xfrm>
          <a:prstGeom prst="rect">
            <a:avLst/>
          </a:prstGeom>
          <a:noFill/>
        </p:spPr>
        <p:txBody>
          <a:bodyPr wrap="square" rtlCol="0">
            <a:spAutoFit/>
          </a:bodyPr>
          <a:lstStyle/>
          <a:p>
            <a:r>
              <a:rPr lang="en-US" sz="1600" dirty="0" smtClean="0">
                <a:solidFill>
                  <a:srgbClr val="C00000"/>
                </a:solidFill>
              </a:rPr>
              <a:t>Integration of audio and video, SMS, and phone calls</a:t>
            </a:r>
            <a:endParaRPr lang="en-US" altLang="zh-CN" sz="1600" dirty="0" smtClean="0">
              <a:solidFill>
                <a:srgbClr val="C00000"/>
              </a:solidFill>
            </a:endParaRPr>
          </a:p>
        </p:txBody>
      </p:sp>
      <p:sp>
        <p:nvSpPr>
          <p:cNvPr id="24" name="TextBox 23"/>
          <p:cNvSpPr txBox="1"/>
          <p:nvPr/>
        </p:nvSpPr>
        <p:spPr>
          <a:xfrm>
            <a:off x="1857356" y="1571612"/>
            <a:ext cx="2219802" cy="584775"/>
          </a:xfrm>
          <a:prstGeom prst="rect">
            <a:avLst/>
          </a:prstGeom>
          <a:noFill/>
        </p:spPr>
        <p:txBody>
          <a:bodyPr wrap="square" rtlCol="0">
            <a:spAutoFit/>
          </a:bodyPr>
          <a:lstStyle/>
          <a:p>
            <a:r>
              <a:rPr lang="en-US" sz="1600" dirty="0" smtClean="0">
                <a:solidFill>
                  <a:schemeClr val="bg1"/>
                </a:solidFill>
              </a:rPr>
              <a:t>Text message (pinned at the top)</a:t>
            </a:r>
            <a:endParaRPr lang="en-US" altLang="zh-CN" sz="1600" dirty="0" smtClean="0">
              <a:solidFill>
                <a:schemeClr val="bg1"/>
              </a:solidFill>
            </a:endParaRPr>
          </a:p>
        </p:txBody>
      </p:sp>
      <p:cxnSp>
        <p:nvCxnSpPr>
          <p:cNvPr id="25" name="直接连接符 24"/>
          <p:cNvCxnSpPr/>
          <p:nvPr/>
        </p:nvCxnSpPr>
        <p:spPr>
          <a:xfrm>
            <a:off x="1714480" y="2156276"/>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6" name="直接连接符 25"/>
          <p:cNvCxnSpPr/>
          <p:nvPr/>
        </p:nvCxnSpPr>
        <p:spPr>
          <a:xfrm>
            <a:off x="1714480" y="2799218"/>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27" name="直接连接符 26"/>
          <p:cNvCxnSpPr/>
          <p:nvPr/>
        </p:nvCxnSpPr>
        <p:spPr>
          <a:xfrm>
            <a:off x="1714480" y="3429000"/>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28" name="TextBox 27"/>
          <p:cNvSpPr txBox="1"/>
          <p:nvPr/>
        </p:nvSpPr>
        <p:spPr>
          <a:xfrm>
            <a:off x="2009756" y="2285992"/>
            <a:ext cx="990608" cy="369332"/>
          </a:xfrm>
          <a:prstGeom prst="rect">
            <a:avLst/>
          </a:prstGeom>
          <a:noFill/>
        </p:spPr>
        <p:txBody>
          <a:bodyPr wrap="square" rtlCol="0">
            <a:spAutoFit/>
          </a:bodyPr>
          <a:lstStyle/>
          <a:p>
            <a:r>
              <a:rPr lang="en-US" altLang="zh-CN" dirty="0" smtClean="0">
                <a:solidFill>
                  <a:schemeClr val="bg1"/>
                </a:solidFill>
              </a:rPr>
              <a:t>John</a:t>
            </a:r>
            <a:endParaRPr lang="en-US" altLang="zh-CN" dirty="0" smtClean="0">
              <a:solidFill>
                <a:schemeClr val="bg1"/>
              </a:solidFill>
            </a:endParaRPr>
          </a:p>
        </p:txBody>
      </p:sp>
      <p:sp>
        <p:nvSpPr>
          <p:cNvPr id="29" name="TextBox 28"/>
          <p:cNvSpPr txBox="1"/>
          <p:nvPr/>
        </p:nvSpPr>
        <p:spPr>
          <a:xfrm>
            <a:off x="2029728" y="2958430"/>
            <a:ext cx="990608" cy="369332"/>
          </a:xfrm>
          <a:prstGeom prst="rect">
            <a:avLst/>
          </a:prstGeom>
          <a:noFill/>
        </p:spPr>
        <p:txBody>
          <a:bodyPr wrap="square" rtlCol="0">
            <a:spAutoFit/>
          </a:bodyPr>
          <a:lstStyle/>
          <a:p>
            <a:r>
              <a:rPr lang="en-US" altLang="zh-CN" dirty="0" smtClean="0">
                <a:solidFill>
                  <a:schemeClr val="bg1"/>
                </a:solidFill>
              </a:rPr>
              <a:t>Tom</a:t>
            </a:r>
            <a:endParaRPr lang="en-US" altLang="zh-CN" dirty="0" smtClean="0">
              <a:solidFill>
                <a:schemeClr val="bg1"/>
              </a:solidFill>
            </a:endParaRPr>
          </a:p>
        </p:txBody>
      </p:sp>
      <p:sp>
        <p:nvSpPr>
          <p:cNvPr id="30" name="TextBox 29"/>
          <p:cNvSpPr txBox="1"/>
          <p:nvPr/>
        </p:nvSpPr>
        <p:spPr>
          <a:xfrm>
            <a:off x="2200145" y="3786190"/>
            <a:ext cx="800219" cy="369332"/>
          </a:xfrm>
          <a:prstGeom prst="rect">
            <a:avLst/>
          </a:prstGeom>
          <a:noFill/>
        </p:spPr>
        <p:txBody>
          <a:bodyPr vert="eaVert" wrap="square" rtlCol="0">
            <a:spAutoFit/>
          </a:bodyPr>
          <a:lstStyle/>
          <a:p>
            <a:r>
              <a:rPr lang="en-US" altLang="zh-CN" sz="4000" b="1" dirty="0" smtClean="0">
                <a:solidFill>
                  <a:schemeClr val="bg1"/>
                </a:solidFill>
              </a:rPr>
              <a:t>…</a:t>
            </a:r>
          </a:p>
        </p:txBody>
      </p:sp>
      <p:sp>
        <p:nvSpPr>
          <p:cNvPr id="31" name="TextBox 30"/>
          <p:cNvSpPr txBox="1"/>
          <p:nvPr/>
        </p:nvSpPr>
        <p:spPr>
          <a:xfrm>
            <a:off x="3973302" y="958166"/>
            <a:ext cx="633418" cy="523220"/>
          </a:xfrm>
          <a:prstGeom prst="rect">
            <a:avLst/>
          </a:prstGeom>
          <a:noFill/>
        </p:spPr>
        <p:txBody>
          <a:bodyPr wrap="square" rtlCol="0">
            <a:spAutoFit/>
          </a:bodyPr>
          <a:lstStyle/>
          <a:p>
            <a:r>
              <a:rPr lang="zh-CN" altLang="en-US" sz="2800" b="1" dirty="0" smtClean="0">
                <a:solidFill>
                  <a:schemeClr val="bg1"/>
                </a:solidFill>
                <a:latin typeface="宋体"/>
                <a:ea typeface="宋体"/>
              </a:rPr>
              <a:t>⊕</a:t>
            </a:r>
            <a:endParaRPr lang="en-US" altLang="zh-CN" sz="2800" b="1" dirty="0" smtClean="0">
              <a:solidFill>
                <a:schemeClr val="bg1"/>
              </a:solidFill>
            </a:endParaRPr>
          </a:p>
        </p:txBody>
      </p:sp>
      <p:grpSp>
        <p:nvGrpSpPr>
          <p:cNvPr id="36" name="组合 35"/>
          <p:cNvGrpSpPr/>
          <p:nvPr/>
        </p:nvGrpSpPr>
        <p:grpSpPr>
          <a:xfrm>
            <a:off x="3786182" y="1170178"/>
            <a:ext cx="214314" cy="167769"/>
            <a:chOff x="3786182" y="1142984"/>
            <a:chExt cx="214314" cy="167769"/>
          </a:xfrm>
        </p:grpSpPr>
        <p:sp>
          <p:nvSpPr>
            <p:cNvPr id="33" name="椭圆 32"/>
            <p:cNvSpPr/>
            <p:nvPr/>
          </p:nvSpPr>
          <p:spPr>
            <a:xfrm>
              <a:off x="3786182" y="1142984"/>
              <a:ext cx="108000"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rot="16200000" flipH="1">
              <a:off x="3875058" y="1185315"/>
              <a:ext cx="108000" cy="14287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8" name="组合 37"/>
          <p:cNvGrpSpPr/>
          <p:nvPr/>
        </p:nvGrpSpPr>
        <p:grpSpPr>
          <a:xfrm>
            <a:off x="3783934" y="714356"/>
            <a:ext cx="288000" cy="288000"/>
            <a:chOff x="7872896" y="3857628"/>
            <a:chExt cx="342442" cy="542008"/>
          </a:xfrm>
        </p:grpSpPr>
        <p:sp>
          <p:nvSpPr>
            <p:cNvPr id="39" name="矩形 38"/>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0" name="矩形 39"/>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41" name="矩形 40"/>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32" name="笑脸 31">
            <a:hlinkClick r:id="rId2" action="ppaction://hlinksldjump" highlightClick="1"/>
          </p:cNvPr>
          <p:cNvSpPr/>
          <p:nvPr/>
        </p:nvSpPr>
        <p:spPr>
          <a:xfrm>
            <a:off x="428596" y="500042"/>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14480" y="729000"/>
            <a:ext cx="2880000" cy="5400000"/>
            <a:chOff x="1714480" y="729000"/>
            <a:chExt cx="2880000" cy="5400000"/>
          </a:xfrm>
        </p:grpSpPr>
        <p:sp>
          <p:nvSpPr>
            <p:cNvPr id="4" name="圆角矩形 3"/>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5" name="直接连接符 4"/>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sp>
        <p:nvSpPr>
          <p:cNvPr id="14" name="TextBox 13"/>
          <p:cNvSpPr txBox="1"/>
          <p:nvPr/>
        </p:nvSpPr>
        <p:spPr>
          <a:xfrm>
            <a:off x="5072066" y="2357430"/>
            <a:ext cx="3714776" cy="1077218"/>
          </a:xfrm>
          <a:prstGeom prst="rect">
            <a:avLst/>
          </a:prstGeom>
          <a:noFill/>
        </p:spPr>
        <p:txBody>
          <a:bodyPr wrap="square" rtlCol="0">
            <a:spAutoFit/>
          </a:bodyPr>
          <a:lstStyle/>
          <a:p>
            <a:r>
              <a:rPr lang="en-US" sz="3200" dirty="0" smtClean="0">
                <a:solidFill>
                  <a:schemeClr val="bg1"/>
                </a:solidFill>
              </a:rPr>
              <a:t>Entertainment&amp; </a:t>
            </a:r>
            <a:r>
              <a:rPr lang="en-US" sz="3200" dirty="0" smtClean="0">
                <a:solidFill>
                  <a:schemeClr val="bg1"/>
                </a:solidFill>
              </a:rPr>
              <a:t>Life/Work Module</a:t>
            </a:r>
            <a:endParaRPr lang="en-US" altLang="zh-CN" sz="3200" dirty="0" smtClean="0">
              <a:solidFill>
                <a:schemeClr val="bg1"/>
              </a:solidFill>
            </a:endParaRPr>
          </a:p>
        </p:txBody>
      </p:sp>
      <p:cxnSp>
        <p:nvCxnSpPr>
          <p:cNvPr id="15" name="直接连接符 14"/>
          <p:cNvCxnSpPr/>
          <p:nvPr/>
        </p:nvCxnSpPr>
        <p:spPr>
          <a:xfrm>
            <a:off x="1714480" y="1428736"/>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6" name="圆角矩形 15"/>
          <p:cNvSpPr/>
          <p:nvPr/>
        </p:nvSpPr>
        <p:spPr>
          <a:xfrm>
            <a:off x="1857356" y="1714488"/>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7" name="TextBox 16"/>
          <p:cNvSpPr txBox="1"/>
          <p:nvPr/>
        </p:nvSpPr>
        <p:spPr>
          <a:xfrm>
            <a:off x="1857356" y="3460836"/>
            <a:ext cx="571504" cy="253916"/>
          </a:xfrm>
          <a:prstGeom prst="rect">
            <a:avLst/>
          </a:prstGeom>
          <a:solidFill>
            <a:schemeClr val="accent1">
              <a:lumMod val="60000"/>
              <a:lumOff val="40000"/>
            </a:schemeClr>
          </a:solidFill>
        </p:spPr>
        <p:txBody>
          <a:bodyPr wrap="square" rtlCol="0">
            <a:spAutoFit/>
          </a:bodyPr>
          <a:lstStyle/>
          <a:p>
            <a:pPr algn="ctr"/>
            <a:r>
              <a:rPr lang="en-US" altLang="zh-CN" sz="1050" dirty="0" smtClean="0">
                <a:solidFill>
                  <a:schemeClr val="bg1"/>
                </a:solidFill>
              </a:rPr>
              <a:t>Video</a:t>
            </a:r>
            <a:endParaRPr lang="en-US" altLang="zh-CN" sz="1050" dirty="0" smtClean="0">
              <a:solidFill>
                <a:schemeClr val="bg1"/>
              </a:solidFill>
            </a:endParaRPr>
          </a:p>
        </p:txBody>
      </p:sp>
      <p:sp>
        <p:nvSpPr>
          <p:cNvPr id="18" name="圆角矩形 17"/>
          <p:cNvSpPr/>
          <p:nvPr/>
        </p:nvSpPr>
        <p:spPr>
          <a:xfrm>
            <a:off x="2571736" y="1714488"/>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20" name="圆角矩形 19"/>
          <p:cNvSpPr/>
          <p:nvPr/>
        </p:nvSpPr>
        <p:spPr>
          <a:xfrm>
            <a:off x="3929058" y="1714488"/>
            <a:ext cx="500066" cy="4143404"/>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22" name="TextBox 21"/>
          <p:cNvSpPr txBox="1"/>
          <p:nvPr/>
        </p:nvSpPr>
        <p:spPr>
          <a:xfrm>
            <a:off x="2357422" y="3000372"/>
            <a:ext cx="1071570" cy="253916"/>
          </a:xfrm>
          <a:prstGeom prst="rect">
            <a:avLst/>
          </a:prstGeom>
          <a:solidFill>
            <a:schemeClr val="accent1">
              <a:lumMod val="60000"/>
              <a:lumOff val="40000"/>
            </a:schemeClr>
          </a:solidFill>
        </p:spPr>
        <p:txBody>
          <a:bodyPr wrap="square" rtlCol="0">
            <a:spAutoFit/>
          </a:bodyPr>
          <a:lstStyle/>
          <a:p>
            <a:pPr algn="ctr"/>
            <a:r>
              <a:rPr lang="en-US" altLang="zh-CN" sz="1050" dirty="0" smtClean="0">
                <a:solidFill>
                  <a:schemeClr val="bg1"/>
                </a:solidFill>
              </a:rPr>
              <a:t>Shopping</a:t>
            </a:r>
            <a:endParaRPr lang="en-US" altLang="zh-CN" sz="1050" dirty="0" smtClean="0">
              <a:solidFill>
                <a:schemeClr val="bg1"/>
              </a:solidFill>
            </a:endParaRPr>
          </a:p>
        </p:txBody>
      </p:sp>
      <p:sp>
        <p:nvSpPr>
          <p:cNvPr id="23" name="TextBox 22"/>
          <p:cNvSpPr txBox="1"/>
          <p:nvPr/>
        </p:nvSpPr>
        <p:spPr>
          <a:xfrm>
            <a:off x="3643306" y="4175216"/>
            <a:ext cx="1000132" cy="253916"/>
          </a:xfrm>
          <a:prstGeom prst="rect">
            <a:avLst/>
          </a:prstGeom>
          <a:solidFill>
            <a:schemeClr val="accent1">
              <a:lumMod val="60000"/>
              <a:lumOff val="40000"/>
            </a:schemeClr>
          </a:solidFill>
        </p:spPr>
        <p:txBody>
          <a:bodyPr wrap="square" rtlCol="0">
            <a:spAutoFit/>
          </a:bodyPr>
          <a:lstStyle/>
          <a:p>
            <a:pPr algn="ctr"/>
            <a:r>
              <a:rPr lang="en-US" sz="1050" dirty="0" smtClean="0">
                <a:solidFill>
                  <a:schemeClr val="bg1"/>
                </a:solidFill>
              </a:rPr>
              <a:t>Navigation</a:t>
            </a:r>
            <a:endParaRPr lang="en-US" altLang="zh-CN" sz="1050" dirty="0" smtClean="0">
              <a:solidFill>
                <a:schemeClr val="bg1"/>
              </a:solidFill>
            </a:endParaRPr>
          </a:p>
        </p:txBody>
      </p:sp>
      <p:sp>
        <p:nvSpPr>
          <p:cNvPr id="24" name="TextBox 23"/>
          <p:cNvSpPr txBox="1"/>
          <p:nvPr/>
        </p:nvSpPr>
        <p:spPr>
          <a:xfrm>
            <a:off x="3143240" y="3116054"/>
            <a:ext cx="714380" cy="646331"/>
          </a:xfrm>
          <a:prstGeom prst="rect">
            <a:avLst/>
          </a:prstGeom>
          <a:noFill/>
        </p:spPr>
        <p:txBody>
          <a:bodyPr wrap="square" rtlCol="0">
            <a:spAutoFit/>
          </a:bodyPr>
          <a:lstStyle/>
          <a:p>
            <a:pPr algn="ctr"/>
            <a:r>
              <a:rPr lang="en-US" altLang="zh-CN" sz="3600" b="1" dirty="0" smtClean="0">
                <a:solidFill>
                  <a:schemeClr val="bg1"/>
                </a:solidFill>
              </a:rPr>
              <a:t>…</a:t>
            </a:r>
          </a:p>
        </p:txBody>
      </p:sp>
      <p:sp>
        <p:nvSpPr>
          <p:cNvPr id="25" name="TextBox 24"/>
          <p:cNvSpPr txBox="1"/>
          <p:nvPr/>
        </p:nvSpPr>
        <p:spPr>
          <a:xfrm>
            <a:off x="1832160" y="928670"/>
            <a:ext cx="638642" cy="584775"/>
          </a:xfrm>
          <a:prstGeom prst="rect">
            <a:avLst/>
          </a:prstGeom>
          <a:noFill/>
        </p:spPr>
        <p:txBody>
          <a:bodyPr wrap="square" rtlCol="0">
            <a:spAutoFit/>
          </a:bodyPr>
          <a:lstStyle/>
          <a:p>
            <a:r>
              <a:rPr lang="zh-CN" altLang="en-US" sz="3200" dirty="0" smtClean="0">
                <a:solidFill>
                  <a:schemeClr val="bg1"/>
                </a:solidFill>
                <a:latin typeface="宋体"/>
                <a:ea typeface="宋体"/>
              </a:rPr>
              <a:t>⊕</a:t>
            </a:r>
            <a:endParaRPr lang="en-US" altLang="zh-CN" sz="3200" dirty="0" smtClean="0">
              <a:solidFill>
                <a:schemeClr val="bg1"/>
              </a:solidFill>
            </a:endParaRPr>
          </a:p>
        </p:txBody>
      </p:sp>
      <p:sp>
        <p:nvSpPr>
          <p:cNvPr id="26" name="TextBox 25"/>
          <p:cNvSpPr txBox="1"/>
          <p:nvPr/>
        </p:nvSpPr>
        <p:spPr>
          <a:xfrm>
            <a:off x="2531792" y="928670"/>
            <a:ext cx="638642" cy="584775"/>
          </a:xfrm>
          <a:prstGeom prst="rect">
            <a:avLst/>
          </a:prstGeom>
          <a:noFill/>
        </p:spPr>
        <p:txBody>
          <a:bodyPr wrap="square" rtlCol="0">
            <a:spAutoFit/>
          </a:bodyPr>
          <a:lstStyle/>
          <a:p>
            <a:r>
              <a:rPr lang="zh-CN" altLang="en-US" sz="3200" dirty="0" smtClean="0">
                <a:solidFill>
                  <a:schemeClr val="bg1"/>
                </a:solidFill>
                <a:latin typeface="宋体"/>
                <a:ea typeface="宋体"/>
              </a:rPr>
              <a:t>⊕</a:t>
            </a:r>
            <a:endParaRPr lang="en-US" altLang="zh-CN" sz="3200" dirty="0" smtClean="0">
              <a:solidFill>
                <a:schemeClr val="bg1"/>
              </a:solidFill>
            </a:endParaRPr>
          </a:p>
        </p:txBody>
      </p:sp>
      <p:sp>
        <p:nvSpPr>
          <p:cNvPr id="27" name="TextBox 26"/>
          <p:cNvSpPr txBox="1"/>
          <p:nvPr/>
        </p:nvSpPr>
        <p:spPr>
          <a:xfrm>
            <a:off x="3861920" y="915399"/>
            <a:ext cx="638642" cy="584775"/>
          </a:xfrm>
          <a:prstGeom prst="rect">
            <a:avLst/>
          </a:prstGeom>
          <a:noFill/>
        </p:spPr>
        <p:txBody>
          <a:bodyPr wrap="square" rtlCol="0">
            <a:spAutoFit/>
          </a:bodyPr>
          <a:lstStyle/>
          <a:p>
            <a:r>
              <a:rPr lang="zh-CN" altLang="en-US" sz="3200" dirty="0" smtClean="0">
                <a:solidFill>
                  <a:schemeClr val="bg1"/>
                </a:solidFill>
                <a:latin typeface="宋体"/>
                <a:ea typeface="宋体"/>
              </a:rPr>
              <a:t>⊕</a:t>
            </a:r>
            <a:endParaRPr lang="en-US" altLang="zh-CN" sz="3200" dirty="0" smtClean="0">
              <a:solidFill>
                <a:schemeClr val="bg1"/>
              </a:solidFill>
            </a:endParaRPr>
          </a:p>
        </p:txBody>
      </p:sp>
      <p:grpSp>
        <p:nvGrpSpPr>
          <p:cNvPr id="28" name="组合 27"/>
          <p:cNvGrpSpPr/>
          <p:nvPr/>
        </p:nvGrpSpPr>
        <p:grpSpPr>
          <a:xfrm>
            <a:off x="3783934" y="714356"/>
            <a:ext cx="288000" cy="288000"/>
            <a:chOff x="7872896" y="3857628"/>
            <a:chExt cx="342442" cy="542008"/>
          </a:xfrm>
        </p:grpSpPr>
        <p:sp>
          <p:nvSpPr>
            <p:cNvPr id="29" name="矩形 28"/>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0" name="矩形 29"/>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1" name="矩形 30"/>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21" name="笑脸 20">
            <a:hlinkClick r:id="rId2" action="ppaction://hlinksldjump" highlightClick="1"/>
          </p:cNvPr>
          <p:cNvSpPr/>
          <p:nvPr/>
        </p:nvSpPr>
        <p:spPr>
          <a:xfrm>
            <a:off x="428596" y="500042"/>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14480" y="729000"/>
            <a:ext cx="2880000" cy="5400000"/>
            <a:chOff x="1714480" y="729000"/>
            <a:chExt cx="2880000" cy="5400000"/>
          </a:xfrm>
        </p:grpSpPr>
        <p:sp>
          <p:nvSpPr>
            <p:cNvPr id="4" name="圆角矩形 3"/>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CN" altLang="en-US"/>
            </a:p>
          </p:txBody>
        </p:sp>
        <p:cxnSp>
          <p:nvCxnSpPr>
            <p:cNvPr id="5" name="直接连接符 4"/>
            <p:cNvCxnSpPr/>
            <p:nvPr/>
          </p:nvCxnSpPr>
          <p:spPr>
            <a:xfrm>
              <a:off x="1743976" y="1000108"/>
              <a:ext cx="2808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cxnSp>
        <p:nvCxnSpPr>
          <p:cNvPr id="14" name="直接连接符 13"/>
          <p:cNvCxnSpPr/>
          <p:nvPr/>
        </p:nvCxnSpPr>
        <p:spPr>
          <a:xfrm>
            <a:off x="1714480" y="1428736"/>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5" name="TextBox 14"/>
          <p:cNvSpPr txBox="1"/>
          <p:nvPr/>
        </p:nvSpPr>
        <p:spPr>
          <a:xfrm>
            <a:off x="2000232" y="1071546"/>
            <a:ext cx="1005356" cy="369332"/>
          </a:xfrm>
          <a:prstGeom prst="rect">
            <a:avLst/>
          </a:prstGeom>
          <a:noFill/>
        </p:spPr>
        <p:txBody>
          <a:bodyPr wrap="square" rtlCol="0">
            <a:spAutoFit/>
          </a:bodyPr>
          <a:lstStyle/>
          <a:p>
            <a:r>
              <a:rPr lang="en-US" dirty="0" smtClean="0">
                <a:solidFill>
                  <a:schemeClr val="bg1"/>
                </a:solidFill>
              </a:rPr>
              <a:t>Settings</a:t>
            </a:r>
            <a:endParaRPr lang="en-US" altLang="zh-CN" dirty="0" smtClean="0">
              <a:solidFill>
                <a:schemeClr val="bg1"/>
              </a:solidFill>
            </a:endParaRPr>
          </a:p>
        </p:txBody>
      </p:sp>
      <p:cxnSp>
        <p:nvCxnSpPr>
          <p:cNvPr id="16" name="直接连接符 15"/>
          <p:cNvCxnSpPr/>
          <p:nvPr/>
        </p:nvCxnSpPr>
        <p:spPr>
          <a:xfrm>
            <a:off x="1714480" y="2070090"/>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7" name="直接连接符 16"/>
          <p:cNvCxnSpPr/>
          <p:nvPr/>
        </p:nvCxnSpPr>
        <p:spPr>
          <a:xfrm>
            <a:off x="1714480" y="2713032"/>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8" name="直接连接符 17"/>
          <p:cNvCxnSpPr/>
          <p:nvPr/>
        </p:nvCxnSpPr>
        <p:spPr>
          <a:xfrm>
            <a:off x="1714480" y="3357562"/>
            <a:ext cx="2880000"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9" name="TextBox 18"/>
          <p:cNvSpPr txBox="1"/>
          <p:nvPr/>
        </p:nvSpPr>
        <p:spPr>
          <a:xfrm>
            <a:off x="2209322" y="1465004"/>
            <a:ext cx="2005488" cy="646331"/>
          </a:xfrm>
          <a:prstGeom prst="rect">
            <a:avLst/>
          </a:prstGeom>
          <a:noFill/>
        </p:spPr>
        <p:txBody>
          <a:bodyPr wrap="square" rtlCol="0">
            <a:spAutoFit/>
          </a:bodyPr>
          <a:lstStyle/>
          <a:p>
            <a:r>
              <a:rPr lang="en-US" dirty="0" smtClean="0">
                <a:solidFill>
                  <a:schemeClr val="bg1"/>
                </a:solidFill>
              </a:rPr>
              <a:t>General (including account)</a:t>
            </a:r>
            <a:endParaRPr lang="en-US" altLang="zh-CN" dirty="0" smtClean="0">
              <a:solidFill>
                <a:schemeClr val="bg1"/>
              </a:solidFill>
            </a:endParaRPr>
          </a:p>
        </p:txBody>
      </p:sp>
      <p:sp>
        <p:nvSpPr>
          <p:cNvPr id="20" name="TextBox 19"/>
          <p:cNvSpPr txBox="1"/>
          <p:nvPr/>
        </p:nvSpPr>
        <p:spPr>
          <a:xfrm>
            <a:off x="2224070" y="2202412"/>
            <a:ext cx="1562112" cy="369332"/>
          </a:xfrm>
          <a:prstGeom prst="rect">
            <a:avLst/>
          </a:prstGeom>
          <a:noFill/>
        </p:spPr>
        <p:txBody>
          <a:bodyPr wrap="square" rtlCol="0">
            <a:spAutoFit/>
          </a:bodyPr>
          <a:lstStyle/>
          <a:p>
            <a:r>
              <a:rPr lang="en-US" altLang="zh-CN" dirty="0" smtClean="0">
                <a:solidFill>
                  <a:schemeClr val="bg1"/>
                </a:solidFill>
              </a:rPr>
              <a:t>Software  </a:t>
            </a:r>
            <a:r>
              <a:rPr lang="en-US" altLang="zh-CN" dirty="0" smtClean="0">
                <a:solidFill>
                  <a:schemeClr val="bg1"/>
                </a:solidFill>
              </a:rPr>
              <a:t>1</a:t>
            </a:r>
            <a:endParaRPr lang="en-US" altLang="zh-CN" dirty="0" smtClean="0">
              <a:solidFill>
                <a:schemeClr val="bg1"/>
              </a:solidFill>
            </a:endParaRPr>
          </a:p>
        </p:txBody>
      </p:sp>
      <p:sp>
        <p:nvSpPr>
          <p:cNvPr id="21" name="TextBox 20"/>
          <p:cNvSpPr txBox="1"/>
          <p:nvPr/>
        </p:nvSpPr>
        <p:spPr>
          <a:xfrm>
            <a:off x="2214546" y="2857800"/>
            <a:ext cx="1357322" cy="369332"/>
          </a:xfrm>
          <a:prstGeom prst="rect">
            <a:avLst/>
          </a:prstGeom>
          <a:noFill/>
        </p:spPr>
        <p:txBody>
          <a:bodyPr wrap="square" rtlCol="0">
            <a:spAutoFit/>
          </a:bodyPr>
          <a:lstStyle/>
          <a:p>
            <a:r>
              <a:rPr lang="en-US" altLang="zh-CN" dirty="0" smtClean="0">
                <a:solidFill>
                  <a:schemeClr val="bg1"/>
                </a:solidFill>
              </a:rPr>
              <a:t>Software  </a:t>
            </a:r>
            <a:r>
              <a:rPr lang="en-US" altLang="zh-CN" dirty="0" smtClean="0">
                <a:solidFill>
                  <a:schemeClr val="bg1"/>
                </a:solidFill>
              </a:rPr>
              <a:t>2</a:t>
            </a:r>
            <a:endParaRPr lang="en-US" altLang="zh-CN" dirty="0" smtClean="0">
              <a:solidFill>
                <a:schemeClr val="bg1"/>
              </a:solidFill>
            </a:endParaRPr>
          </a:p>
        </p:txBody>
      </p:sp>
      <p:sp>
        <p:nvSpPr>
          <p:cNvPr id="22" name="TextBox 21"/>
          <p:cNvSpPr txBox="1"/>
          <p:nvPr/>
        </p:nvSpPr>
        <p:spPr>
          <a:xfrm>
            <a:off x="2414459" y="3643314"/>
            <a:ext cx="800219" cy="369332"/>
          </a:xfrm>
          <a:prstGeom prst="rect">
            <a:avLst/>
          </a:prstGeom>
          <a:noFill/>
        </p:spPr>
        <p:txBody>
          <a:bodyPr vert="eaVert" wrap="square" rtlCol="0">
            <a:spAutoFit/>
          </a:bodyPr>
          <a:lstStyle/>
          <a:p>
            <a:r>
              <a:rPr lang="en-US" altLang="zh-CN" sz="4000" b="1" dirty="0" smtClean="0">
                <a:solidFill>
                  <a:schemeClr val="bg1"/>
                </a:solidFill>
              </a:rPr>
              <a:t>…</a:t>
            </a:r>
          </a:p>
        </p:txBody>
      </p:sp>
      <p:cxnSp>
        <p:nvCxnSpPr>
          <p:cNvPr id="24" name="直接箭头连接符 23"/>
          <p:cNvCxnSpPr/>
          <p:nvPr/>
        </p:nvCxnSpPr>
        <p:spPr>
          <a:xfrm>
            <a:off x="4000496" y="1758732"/>
            <a:ext cx="1071570" cy="214314"/>
          </a:xfrm>
          <a:prstGeom prst="straightConnector1">
            <a:avLst/>
          </a:prstGeom>
          <a:ln>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153028" y="1681603"/>
            <a:ext cx="1847864" cy="646331"/>
          </a:xfrm>
          <a:prstGeom prst="rect">
            <a:avLst/>
          </a:prstGeom>
          <a:solidFill>
            <a:schemeClr val="accent6">
              <a:lumMod val="60000"/>
              <a:lumOff val="40000"/>
            </a:schemeClr>
          </a:solidFill>
        </p:spPr>
        <p:txBody>
          <a:bodyPr wrap="square" rtlCol="0">
            <a:spAutoFit/>
          </a:bodyPr>
          <a:lstStyle/>
          <a:p>
            <a:r>
              <a:rPr lang="en-US" dirty="0" smtClean="0">
                <a:solidFill>
                  <a:srgbClr val="C00000"/>
                </a:solidFill>
              </a:rPr>
              <a:t>Basic system-level settings</a:t>
            </a:r>
            <a:endParaRPr lang="en-US" altLang="zh-CN" dirty="0" smtClean="0">
              <a:solidFill>
                <a:srgbClr val="C00000"/>
              </a:solidFill>
            </a:endParaRPr>
          </a:p>
        </p:txBody>
      </p:sp>
      <p:sp>
        <p:nvSpPr>
          <p:cNvPr id="26" name="TextBox 25"/>
          <p:cNvSpPr txBox="1"/>
          <p:nvPr/>
        </p:nvSpPr>
        <p:spPr>
          <a:xfrm>
            <a:off x="5852660" y="3120940"/>
            <a:ext cx="2576992" cy="2308324"/>
          </a:xfrm>
          <a:prstGeom prst="rect">
            <a:avLst/>
          </a:prstGeom>
          <a:noFill/>
        </p:spPr>
        <p:txBody>
          <a:bodyPr wrap="square" rtlCol="0">
            <a:spAutoFit/>
          </a:bodyPr>
          <a:lstStyle/>
          <a:p>
            <a:r>
              <a:rPr lang="en-US" dirty="0" smtClean="0">
                <a:solidFill>
                  <a:schemeClr val="bg1"/>
                </a:solidFill>
              </a:rPr>
              <a:t>All settings of installed software are gathered here, and they can dynamically change following the installation and </a:t>
            </a:r>
            <a:r>
              <a:rPr lang="en-US" dirty="0" err="1" smtClean="0">
                <a:solidFill>
                  <a:schemeClr val="bg1"/>
                </a:solidFill>
              </a:rPr>
              <a:t>uninstallation</a:t>
            </a:r>
            <a:r>
              <a:rPr lang="en-US" dirty="0" smtClean="0">
                <a:solidFill>
                  <a:schemeClr val="bg1"/>
                </a:solidFill>
              </a:rPr>
              <a:t> of software.</a:t>
            </a:r>
            <a:endParaRPr lang="en-US" altLang="zh-CN" dirty="0" smtClean="0">
              <a:solidFill>
                <a:schemeClr val="bg1"/>
              </a:solidFill>
            </a:endParaRPr>
          </a:p>
        </p:txBody>
      </p:sp>
      <p:grpSp>
        <p:nvGrpSpPr>
          <p:cNvPr id="27" name="组合 26"/>
          <p:cNvGrpSpPr/>
          <p:nvPr/>
        </p:nvGrpSpPr>
        <p:grpSpPr>
          <a:xfrm>
            <a:off x="3783934" y="714356"/>
            <a:ext cx="288000" cy="288000"/>
            <a:chOff x="7872896" y="3857628"/>
            <a:chExt cx="342442" cy="542008"/>
          </a:xfrm>
        </p:grpSpPr>
        <p:sp>
          <p:nvSpPr>
            <p:cNvPr id="28" name="矩形 27"/>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29" name="矩形 28"/>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30" name="矩形 29"/>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sp>
        <p:nvSpPr>
          <p:cNvPr id="23" name="笑脸 22">
            <a:hlinkClick r:id="rId2" action="ppaction://hlinksldjump" highlightClick="1"/>
          </p:cNvPr>
          <p:cNvSpPr/>
          <p:nvPr/>
        </p:nvSpPr>
        <p:spPr>
          <a:xfrm>
            <a:off x="428596" y="428604"/>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14414" y="729000"/>
            <a:ext cx="6715172" cy="3771570"/>
            <a:chOff x="1714480" y="729000"/>
            <a:chExt cx="2880000" cy="5400000"/>
          </a:xfrm>
        </p:grpSpPr>
        <p:sp>
          <p:nvSpPr>
            <p:cNvPr id="4" name="圆角矩形 3"/>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endParaRPr lang="zh-CN" altLang="en-US"/>
            </a:p>
          </p:txBody>
        </p:sp>
        <p:cxnSp>
          <p:nvCxnSpPr>
            <p:cNvPr id="5" name="直接连接符 4"/>
            <p:cNvCxnSpPr/>
            <p:nvPr/>
          </p:nvCxnSpPr>
          <p:spPr>
            <a:xfrm>
              <a:off x="1714480" y="1422422"/>
              <a:ext cx="2871778"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grpSp>
        <p:nvGrpSpPr>
          <p:cNvPr id="6" name="组合 5"/>
          <p:cNvGrpSpPr/>
          <p:nvPr/>
        </p:nvGrpSpPr>
        <p:grpSpPr>
          <a:xfrm>
            <a:off x="7072330" y="854984"/>
            <a:ext cx="288000" cy="288000"/>
            <a:chOff x="7872896" y="3857628"/>
            <a:chExt cx="342442" cy="542008"/>
          </a:xfrm>
        </p:grpSpPr>
        <p:sp>
          <p:nvSpPr>
            <p:cNvPr id="7" name="矩形 6"/>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8" name="矩形 7"/>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9" name="矩形 8"/>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cxnSp>
        <p:nvCxnSpPr>
          <p:cNvPr id="10" name="直接连接符 9"/>
          <p:cNvCxnSpPr/>
          <p:nvPr/>
        </p:nvCxnSpPr>
        <p:spPr>
          <a:xfrm>
            <a:off x="1214414" y="3785081"/>
            <a:ext cx="6696000" cy="1109"/>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1" name="直接连接符 10"/>
          <p:cNvCxnSpPr/>
          <p:nvPr/>
        </p:nvCxnSpPr>
        <p:spPr>
          <a:xfrm rot="5400000">
            <a:off x="2568371" y="4145636"/>
            <a:ext cx="720000" cy="1109"/>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2" name="直接连接符 11"/>
          <p:cNvCxnSpPr/>
          <p:nvPr/>
        </p:nvCxnSpPr>
        <p:spPr>
          <a:xfrm rot="5400000">
            <a:off x="5783081" y="4145636"/>
            <a:ext cx="720000" cy="1109"/>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cxnSp>
        <p:nvCxnSpPr>
          <p:cNvPr id="13" name="直接连接符 12"/>
          <p:cNvCxnSpPr/>
          <p:nvPr/>
        </p:nvCxnSpPr>
        <p:spPr>
          <a:xfrm rot="5400000">
            <a:off x="4140007" y="4145636"/>
            <a:ext cx="720000" cy="1109"/>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14" name="TextBox 13"/>
          <p:cNvSpPr txBox="1"/>
          <p:nvPr/>
        </p:nvSpPr>
        <p:spPr>
          <a:xfrm>
            <a:off x="6591312" y="4000504"/>
            <a:ext cx="838208" cy="369332"/>
          </a:xfrm>
          <a:prstGeom prst="rect">
            <a:avLst/>
          </a:prstGeom>
          <a:noFill/>
        </p:spPr>
        <p:txBody>
          <a:bodyPr wrap="square" rtlCol="0">
            <a:spAutoFit/>
          </a:bodyPr>
          <a:lstStyle/>
          <a:p>
            <a:r>
              <a:rPr lang="en-US" altLang="zh-CN" dirty="0" smtClean="0">
                <a:solidFill>
                  <a:schemeClr val="bg1"/>
                </a:solidFill>
              </a:rPr>
              <a:t>Tools</a:t>
            </a:r>
            <a:endParaRPr lang="en-US" altLang="zh-CN" dirty="0" smtClean="0">
              <a:solidFill>
                <a:schemeClr val="bg1"/>
              </a:solidFill>
            </a:endParaRPr>
          </a:p>
        </p:txBody>
      </p:sp>
      <p:sp>
        <p:nvSpPr>
          <p:cNvPr id="15" name="TextBox 14"/>
          <p:cNvSpPr txBox="1"/>
          <p:nvPr/>
        </p:nvSpPr>
        <p:spPr>
          <a:xfrm>
            <a:off x="4786314" y="3988362"/>
            <a:ext cx="1214446" cy="646331"/>
          </a:xfrm>
          <a:prstGeom prst="rect">
            <a:avLst/>
          </a:prstGeom>
          <a:noFill/>
        </p:spPr>
        <p:txBody>
          <a:bodyPr wrap="square" rtlCol="0">
            <a:spAutoFit/>
          </a:bodyPr>
          <a:lstStyle/>
          <a:p>
            <a:r>
              <a:rPr lang="en-US" sz="1200" dirty="0" smtClean="0">
                <a:solidFill>
                  <a:schemeClr val="bg1"/>
                </a:solidFill>
              </a:rPr>
              <a:t>Entertainment &amp;life</a:t>
            </a:r>
            <a:endParaRPr lang="en-US" altLang="zh-CN" sz="1200" dirty="0" smtClean="0">
              <a:solidFill>
                <a:schemeClr val="bg1"/>
              </a:solidFill>
            </a:endParaRPr>
          </a:p>
          <a:p>
            <a:endParaRPr lang="en-US" altLang="zh-CN" sz="1200" dirty="0" smtClean="0">
              <a:solidFill>
                <a:schemeClr val="bg1"/>
              </a:solidFill>
            </a:endParaRPr>
          </a:p>
        </p:txBody>
      </p:sp>
      <p:sp>
        <p:nvSpPr>
          <p:cNvPr id="16" name="TextBox 15">
            <a:hlinkClick r:id="rId2" action="ppaction://hlinksldjump" highlightClick="1"/>
          </p:cNvPr>
          <p:cNvSpPr txBox="1"/>
          <p:nvPr/>
        </p:nvSpPr>
        <p:spPr>
          <a:xfrm>
            <a:off x="3376602" y="4000504"/>
            <a:ext cx="838208" cy="369332"/>
          </a:xfrm>
          <a:prstGeom prst="rect">
            <a:avLst/>
          </a:prstGeom>
          <a:noFill/>
        </p:spPr>
        <p:txBody>
          <a:bodyPr wrap="square" rtlCol="0">
            <a:spAutoFit/>
          </a:bodyPr>
          <a:lstStyle/>
          <a:p>
            <a:r>
              <a:rPr lang="en-US" altLang="zh-CN" dirty="0" smtClean="0">
                <a:solidFill>
                  <a:schemeClr val="bg1"/>
                </a:solidFill>
              </a:rPr>
              <a:t>Work</a:t>
            </a:r>
            <a:endParaRPr lang="en-US" altLang="zh-CN" dirty="0" smtClean="0">
              <a:solidFill>
                <a:schemeClr val="bg1"/>
              </a:solidFill>
            </a:endParaRPr>
          </a:p>
        </p:txBody>
      </p:sp>
      <p:sp>
        <p:nvSpPr>
          <p:cNvPr id="17" name="TextBox 16"/>
          <p:cNvSpPr txBox="1"/>
          <p:nvPr/>
        </p:nvSpPr>
        <p:spPr>
          <a:xfrm>
            <a:off x="1643042" y="3964236"/>
            <a:ext cx="1357322" cy="369332"/>
          </a:xfrm>
          <a:prstGeom prst="rect">
            <a:avLst/>
          </a:prstGeom>
          <a:noFill/>
        </p:spPr>
        <p:txBody>
          <a:bodyPr wrap="square" rtlCol="0">
            <a:spAutoFit/>
          </a:bodyPr>
          <a:lstStyle/>
          <a:p>
            <a:r>
              <a:rPr lang="en-US" altLang="zh-CN" dirty="0" smtClean="0">
                <a:solidFill>
                  <a:schemeClr val="bg1"/>
                </a:solidFill>
              </a:rPr>
              <a:t>Personal</a:t>
            </a:r>
            <a:endParaRPr lang="en-US" altLang="zh-CN" dirty="0" smtClean="0">
              <a:solidFill>
                <a:schemeClr val="bg1"/>
              </a:solidFill>
            </a:endParaRPr>
          </a:p>
        </p:txBody>
      </p:sp>
      <p:sp>
        <p:nvSpPr>
          <p:cNvPr id="18" name="TextBox 17"/>
          <p:cNvSpPr txBox="1"/>
          <p:nvPr/>
        </p:nvSpPr>
        <p:spPr>
          <a:xfrm>
            <a:off x="3071802" y="1808796"/>
            <a:ext cx="3107553" cy="1477328"/>
          </a:xfrm>
          <a:prstGeom prst="rect">
            <a:avLst/>
          </a:prstGeom>
          <a:noFill/>
        </p:spPr>
        <p:txBody>
          <a:bodyPr wrap="square" rtlCol="0">
            <a:spAutoFit/>
          </a:bodyPr>
          <a:lstStyle/>
          <a:p>
            <a:r>
              <a:rPr lang="en-US" dirty="0" smtClean="0">
                <a:solidFill>
                  <a:schemeClr val="bg1"/>
                </a:solidFill>
              </a:rPr>
              <a:t>Double-click the Windows key to open the file management interface, triple-click it to open the settings interface.</a:t>
            </a:r>
            <a:endParaRPr lang="zh-CN" altLang="en-US" dirty="0">
              <a:solidFill>
                <a:schemeClr val="bg1"/>
              </a:solidFill>
            </a:endParaRPr>
          </a:p>
        </p:txBody>
      </p:sp>
      <p:sp>
        <p:nvSpPr>
          <p:cNvPr id="19" name="右大括号 18"/>
          <p:cNvSpPr/>
          <p:nvPr/>
        </p:nvSpPr>
        <p:spPr>
          <a:xfrm rot="5400000">
            <a:off x="4196951" y="2589603"/>
            <a:ext cx="607221" cy="4714908"/>
          </a:xfrm>
          <a:prstGeom prst="rightBrace">
            <a:avLst>
              <a:gd name="adj1" fmla="val 8333"/>
              <a:gd name="adj2" fmla="val 50000"/>
            </a:avLst>
          </a:prstGeom>
        </p:spPr>
        <p:style>
          <a:lnRef idx="2">
            <a:schemeClr val="accent6"/>
          </a:lnRef>
          <a:fillRef idx="0">
            <a:schemeClr val="accent6"/>
          </a:fillRef>
          <a:effectRef idx="1">
            <a:schemeClr val="accent6"/>
          </a:effectRef>
          <a:fontRef idx="minor">
            <a:schemeClr val="tx1"/>
          </a:fontRef>
        </p:style>
        <p:txBody>
          <a:bodyPr rtlCol="0" anchor="ctr"/>
          <a:lstStyle/>
          <a:p>
            <a:pPr algn="ctr"/>
            <a:endParaRPr lang="zh-CN" altLang="en-US"/>
          </a:p>
        </p:txBody>
      </p:sp>
      <p:sp>
        <p:nvSpPr>
          <p:cNvPr id="20" name="TextBox 19"/>
          <p:cNvSpPr txBox="1"/>
          <p:nvPr/>
        </p:nvSpPr>
        <p:spPr>
          <a:xfrm>
            <a:off x="2571736" y="5354437"/>
            <a:ext cx="4026723" cy="1200329"/>
          </a:xfrm>
          <a:prstGeom prst="rect">
            <a:avLst/>
          </a:prstGeom>
          <a:noFill/>
        </p:spPr>
        <p:txBody>
          <a:bodyPr wrap="square" rtlCol="0">
            <a:spAutoFit/>
          </a:bodyPr>
          <a:lstStyle/>
          <a:p>
            <a:r>
              <a:rPr lang="en-US" dirty="0" smtClean="0">
                <a:solidFill>
                  <a:schemeClr val="bg1"/>
                </a:solidFill>
              </a:rPr>
              <a:t>The operation logic and UI are the same as the mobile version. The default interface of the personal module is the </a:t>
            </a:r>
            <a:r>
              <a:rPr lang="en-US" dirty="0" err="1" smtClean="0">
                <a:solidFill>
                  <a:schemeClr val="bg1"/>
                </a:solidFill>
              </a:rPr>
              <a:t>Grok</a:t>
            </a:r>
            <a:r>
              <a:rPr lang="en-US" dirty="0" smtClean="0">
                <a:solidFill>
                  <a:schemeClr val="bg1"/>
                </a:solidFill>
              </a:rPr>
              <a:t> search engine.</a:t>
            </a:r>
            <a:endParaRPr lang="zh-CN" altLang="en-US" dirty="0">
              <a:solidFill>
                <a:schemeClr val="bg1"/>
              </a:solidFill>
            </a:endParaRPr>
          </a:p>
        </p:txBody>
      </p:sp>
      <p:sp>
        <p:nvSpPr>
          <p:cNvPr id="21" name="TextBox 20"/>
          <p:cNvSpPr txBox="1"/>
          <p:nvPr/>
        </p:nvSpPr>
        <p:spPr>
          <a:xfrm>
            <a:off x="3786182" y="142852"/>
            <a:ext cx="157163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smtClean="0">
                <a:solidFill>
                  <a:schemeClr val="bg1"/>
                </a:solidFill>
              </a:rPr>
              <a:t>Desktop</a:t>
            </a:r>
            <a:endParaRPr lang="en-US" altLang="zh-CN" sz="2400" dirty="0" smtClean="0">
              <a:solidFill>
                <a:schemeClr val="bg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214414" y="729000"/>
            <a:ext cx="6715172" cy="3771570"/>
            <a:chOff x="1714480" y="729000"/>
            <a:chExt cx="2880000" cy="5400000"/>
          </a:xfrm>
        </p:grpSpPr>
        <p:sp>
          <p:nvSpPr>
            <p:cNvPr id="11" name="圆角矩形 10"/>
            <p:cNvSpPr/>
            <p:nvPr/>
          </p:nvSpPr>
          <p:spPr>
            <a:xfrm>
              <a:off x="1714480" y="729000"/>
              <a:ext cx="2880000" cy="5400000"/>
            </a:xfrm>
            <a:prstGeom prst="roundRect">
              <a:avLst/>
            </a:prstGeom>
            <a:ln w="57150"/>
          </p:spPr>
          <p:style>
            <a:lnRef idx="2">
              <a:schemeClr val="accent5">
                <a:shade val="50000"/>
              </a:schemeClr>
            </a:lnRef>
            <a:fillRef idx="1">
              <a:schemeClr val="accent5"/>
            </a:fillRef>
            <a:effectRef idx="0">
              <a:schemeClr val="accent5"/>
            </a:effectRef>
            <a:fontRef idx="minor">
              <a:schemeClr val="lt1"/>
            </a:fontRef>
          </p:style>
          <p:txBody>
            <a:bodyPr rtlCol="0" anchor="ctr"/>
            <a:lstStyle/>
            <a:p>
              <a:endParaRPr lang="zh-CN" altLang="en-US"/>
            </a:p>
          </p:txBody>
        </p:sp>
        <p:cxnSp>
          <p:nvCxnSpPr>
            <p:cNvPr id="12" name="直接连接符 11"/>
            <p:cNvCxnSpPr/>
            <p:nvPr/>
          </p:nvCxnSpPr>
          <p:spPr>
            <a:xfrm>
              <a:off x="1714480" y="1422422"/>
              <a:ext cx="2871778" cy="1588"/>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grpSp>
      <p:grpSp>
        <p:nvGrpSpPr>
          <p:cNvPr id="13" name="组合 12"/>
          <p:cNvGrpSpPr/>
          <p:nvPr/>
        </p:nvGrpSpPr>
        <p:grpSpPr>
          <a:xfrm>
            <a:off x="7072330" y="854984"/>
            <a:ext cx="288000" cy="288000"/>
            <a:chOff x="7872896" y="3857628"/>
            <a:chExt cx="342442" cy="542008"/>
          </a:xfrm>
        </p:grpSpPr>
        <p:sp>
          <p:nvSpPr>
            <p:cNvPr id="14" name="矩形 13"/>
            <p:cNvSpPr/>
            <p:nvPr/>
          </p:nvSpPr>
          <p:spPr>
            <a:xfrm>
              <a:off x="8143900" y="3857628"/>
              <a:ext cx="71438" cy="54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5" name="矩形 14"/>
            <p:cNvSpPr/>
            <p:nvPr/>
          </p:nvSpPr>
          <p:spPr>
            <a:xfrm>
              <a:off x="7872896" y="4214818"/>
              <a:ext cx="71438" cy="18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 name="矩形 15"/>
            <p:cNvSpPr/>
            <p:nvPr/>
          </p:nvSpPr>
          <p:spPr>
            <a:xfrm>
              <a:off x="8015772" y="4039636"/>
              <a:ext cx="71438" cy="360000"/>
            </a:xfrm>
            <a:prstGeom prst="rect">
              <a:avLst/>
            </a:prstGeom>
            <a:solidFill>
              <a:srgbClr val="FFC000"/>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grpSp>
      <p:cxnSp>
        <p:nvCxnSpPr>
          <p:cNvPr id="17" name="直接连接符 16"/>
          <p:cNvCxnSpPr/>
          <p:nvPr/>
        </p:nvCxnSpPr>
        <p:spPr>
          <a:xfrm>
            <a:off x="1214414" y="1785926"/>
            <a:ext cx="6696000" cy="1109"/>
          </a:xfrm>
          <a:prstGeom prst="line">
            <a:avLst/>
          </a:prstGeom>
          <a:ln>
            <a:solidFill>
              <a:schemeClr val="accent5">
                <a:lumMod val="50000"/>
              </a:schemeClr>
            </a:solidFill>
          </a:ln>
        </p:spPr>
        <p:style>
          <a:lnRef idx="2">
            <a:schemeClr val="accent6"/>
          </a:lnRef>
          <a:fillRef idx="0">
            <a:schemeClr val="accent6"/>
          </a:fillRef>
          <a:effectRef idx="1">
            <a:schemeClr val="accent6"/>
          </a:effectRef>
          <a:fontRef idx="minor">
            <a:schemeClr val="tx1"/>
          </a:fontRef>
        </p:style>
      </p:cxnSp>
      <p:sp>
        <p:nvSpPr>
          <p:cNvPr id="23" name="TextBox 22"/>
          <p:cNvSpPr txBox="1"/>
          <p:nvPr/>
        </p:nvSpPr>
        <p:spPr>
          <a:xfrm>
            <a:off x="1857356" y="1357298"/>
            <a:ext cx="838208" cy="369332"/>
          </a:xfrm>
          <a:prstGeom prst="rect">
            <a:avLst/>
          </a:prstGeom>
          <a:noFill/>
        </p:spPr>
        <p:txBody>
          <a:bodyPr wrap="square" rtlCol="0">
            <a:spAutoFit/>
          </a:bodyPr>
          <a:lstStyle/>
          <a:p>
            <a:r>
              <a:rPr lang="en-US" altLang="zh-CN" dirty="0" smtClean="0">
                <a:solidFill>
                  <a:schemeClr val="bg1"/>
                </a:solidFill>
              </a:rPr>
              <a:t>Work</a:t>
            </a:r>
            <a:endParaRPr lang="en-US" altLang="zh-CN" dirty="0" smtClean="0">
              <a:solidFill>
                <a:schemeClr val="bg1"/>
              </a:solidFill>
            </a:endParaRPr>
          </a:p>
        </p:txBody>
      </p:sp>
      <p:sp>
        <p:nvSpPr>
          <p:cNvPr id="24" name="TextBox 23"/>
          <p:cNvSpPr txBox="1"/>
          <p:nvPr/>
        </p:nvSpPr>
        <p:spPr>
          <a:xfrm>
            <a:off x="1928794" y="1928802"/>
            <a:ext cx="500066" cy="461665"/>
          </a:xfrm>
          <a:prstGeom prst="rect">
            <a:avLst/>
          </a:prstGeom>
          <a:noFill/>
        </p:spPr>
        <p:txBody>
          <a:bodyPr wrap="square" rtlCol="0">
            <a:spAutoFit/>
          </a:bodyPr>
          <a:lstStyle/>
          <a:p>
            <a:r>
              <a:rPr lang="zh-CN" altLang="en-US" sz="2400" dirty="0" smtClean="0">
                <a:solidFill>
                  <a:schemeClr val="bg1"/>
                </a:solidFill>
                <a:latin typeface="宋体"/>
                <a:ea typeface="宋体"/>
              </a:rPr>
              <a:t>⊕</a:t>
            </a:r>
            <a:endParaRPr lang="en-US" altLang="zh-CN" sz="2400" dirty="0" smtClean="0">
              <a:solidFill>
                <a:schemeClr val="bg1"/>
              </a:solidFill>
            </a:endParaRPr>
          </a:p>
        </p:txBody>
      </p:sp>
      <p:sp>
        <p:nvSpPr>
          <p:cNvPr id="25" name="TextBox 24"/>
          <p:cNvSpPr txBox="1"/>
          <p:nvPr/>
        </p:nvSpPr>
        <p:spPr>
          <a:xfrm>
            <a:off x="2813244" y="4714884"/>
            <a:ext cx="3616144" cy="1938992"/>
          </a:xfrm>
          <a:prstGeom prst="rect">
            <a:avLst/>
          </a:prstGeom>
          <a:noFill/>
        </p:spPr>
        <p:txBody>
          <a:bodyPr wrap="square" rtlCol="0">
            <a:spAutoFit/>
          </a:bodyPr>
          <a:lstStyle/>
          <a:p>
            <a:r>
              <a:rPr lang="en-US" sz="2000" dirty="0" smtClean="0">
                <a:solidFill>
                  <a:schemeClr val="bg1"/>
                </a:solidFill>
              </a:rPr>
              <a:t>The software interface provides links to the official websites of each software. The settings interface of each software is still included within the software itself.</a:t>
            </a:r>
            <a:endParaRPr lang="zh-CN" altLang="en-US" sz="2000" dirty="0">
              <a:solidFill>
                <a:schemeClr val="bg1"/>
              </a:solidFill>
            </a:endParaRPr>
          </a:p>
        </p:txBody>
      </p:sp>
      <p:sp>
        <p:nvSpPr>
          <p:cNvPr id="28" name="TextBox 27"/>
          <p:cNvSpPr txBox="1"/>
          <p:nvPr/>
        </p:nvSpPr>
        <p:spPr>
          <a:xfrm>
            <a:off x="3143240" y="1928802"/>
            <a:ext cx="500066" cy="461665"/>
          </a:xfrm>
          <a:prstGeom prst="rect">
            <a:avLst/>
          </a:prstGeom>
          <a:noFill/>
        </p:spPr>
        <p:txBody>
          <a:bodyPr wrap="square" rtlCol="0">
            <a:spAutoFit/>
          </a:bodyPr>
          <a:lstStyle/>
          <a:p>
            <a:r>
              <a:rPr lang="zh-CN" altLang="en-US" sz="2400" dirty="0" smtClean="0">
                <a:solidFill>
                  <a:schemeClr val="bg1"/>
                </a:solidFill>
                <a:latin typeface="宋体"/>
                <a:ea typeface="宋体"/>
              </a:rPr>
              <a:t>⊕</a:t>
            </a:r>
            <a:endParaRPr lang="en-US" altLang="zh-CN" sz="2400" dirty="0" smtClean="0">
              <a:solidFill>
                <a:schemeClr val="bg1"/>
              </a:solidFill>
            </a:endParaRPr>
          </a:p>
        </p:txBody>
      </p:sp>
      <p:sp>
        <p:nvSpPr>
          <p:cNvPr id="29" name="TextBox 28"/>
          <p:cNvSpPr txBox="1"/>
          <p:nvPr/>
        </p:nvSpPr>
        <p:spPr>
          <a:xfrm>
            <a:off x="4286248" y="1928802"/>
            <a:ext cx="500066" cy="461665"/>
          </a:xfrm>
          <a:prstGeom prst="rect">
            <a:avLst/>
          </a:prstGeom>
          <a:noFill/>
        </p:spPr>
        <p:txBody>
          <a:bodyPr wrap="square" rtlCol="0">
            <a:spAutoFit/>
          </a:bodyPr>
          <a:lstStyle/>
          <a:p>
            <a:r>
              <a:rPr lang="zh-CN" altLang="en-US" sz="2400" dirty="0" smtClean="0">
                <a:solidFill>
                  <a:schemeClr val="bg1"/>
                </a:solidFill>
                <a:latin typeface="宋体"/>
                <a:ea typeface="宋体"/>
              </a:rPr>
              <a:t>⊕</a:t>
            </a:r>
            <a:endParaRPr lang="en-US" altLang="zh-CN" sz="2400" dirty="0" smtClean="0">
              <a:solidFill>
                <a:schemeClr val="bg1"/>
              </a:solidFill>
            </a:endParaRPr>
          </a:p>
        </p:txBody>
      </p:sp>
      <p:sp>
        <p:nvSpPr>
          <p:cNvPr id="30" name="TextBox 29"/>
          <p:cNvSpPr txBox="1"/>
          <p:nvPr/>
        </p:nvSpPr>
        <p:spPr>
          <a:xfrm>
            <a:off x="5429256" y="1928802"/>
            <a:ext cx="500066" cy="461665"/>
          </a:xfrm>
          <a:prstGeom prst="rect">
            <a:avLst/>
          </a:prstGeom>
          <a:noFill/>
        </p:spPr>
        <p:txBody>
          <a:bodyPr wrap="square" rtlCol="0">
            <a:spAutoFit/>
          </a:bodyPr>
          <a:lstStyle/>
          <a:p>
            <a:r>
              <a:rPr lang="zh-CN" altLang="en-US" sz="2400" dirty="0" smtClean="0">
                <a:solidFill>
                  <a:schemeClr val="bg1"/>
                </a:solidFill>
                <a:latin typeface="宋体"/>
                <a:ea typeface="宋体"/>
              </a:rPr>
              <a:t>⊕</a:t>
            </a:r>
            <a:endParaRPr lang="en-US" altLang="zh-CN" sz="2400" dirty="0" smtClean="0">
              <a:solidFill>
                <a:schemeClr val="bg1"/>
              </a:solidFill>
            </a:endParaRPr>
          </a:p>
        </p:txBody>
      </p:sp>
      <p:sp>
        <p:nvSpPr>
          <p:cNvPr id="31" name="TextBox 30"/>
          <p:cNvSpPr txBox="1"/>
          <p:nvPr/>
        </p:nvSpPr>
        <p:spPr>
          <a:xfrm>
            <a:off x="6429388" y="1928802"/>
            <a:ext cx="500066" cy="461665"/>
          </a:xfrm>
          <a:prstGeom prst="rect">
            <a:avLst/>
          </a:prstGeom>
          <a:noFill/>
        </p:spPr>
        <p:txBody>
          <a:bodyPr wrap="square" rtlCol="0">
            <a:spAutoFit/>
          </a:bodyPr>
          <a:lstStyle/>
          <a:p>
            <a:r>
              <a:rPr lang="zh-CN" altLang="en-US" sz="2400" dirty="0" smtClean="0">
                <a:solidFill>
                  <a:schemeClr val="bg1"/>
                </a:solidFill>
                <a:latin typeface="宋体"/>
                <a:ea typeface="宋体"/>
              </a:rPr>
              <a:t>⊕</a:t>
            </a:r>
            <a:endParaRPr lang="en-US" altLang="zh-CN" sz="2400" dirty="0" smtClean="0">
              <a:solidFill>
                <a:schemeClr val="bg1"/>
              </a:solidFill>
            </a:endParaRPr>
          </a:p>
        </p:txBody>
      </p:sp>
      <p:sp>
        <p:nvSpPr>
          <p:cNvPr id="32" name="圆角矩形 31"/>
          <p:cNvSpPr/>
          <p:nvPr/>
        </p:nvSpPr>
        <p:spPr>
          <a:xfrm>
            <a:off x="2500298" y="2542248"/>
            <a:ext cx="3929090" cy="1601132"/>
          </a:xfrm>
          <a:prstGeom prst="round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33" name="TextBox 32"/>
          <p:cNvSpPr txBox="1"/>
          <p:nvPr/>
        </p:nvSpPr>
        <p:spPr>
          <a:xfrm>
            <a:off x="3000363" y="2857496"/>
            <a:ext cx="1214447" cy="338554"/>
          </a:xfrm>
          <a:prstGeom prst="rect">
            <a:avLst/>
          </a:prstGeom>
          <a:solidFill>
            <a:schemeClr val="accent1">
              <a:lumMod val="60000"/>
              <a:lumOff val="40000"/>
            </a:schemeClr>
          </a:solidFill>
        </p:spPr>
        <p:txBody>
          <a:bodyPr wrap="square" rtlCol="0">
            <a:spAutoFit/>
          </a:bodyPr>
          <a:lstStyle/>
          <a:p>
            <a:pPr algn="ctr"/>
            <a:r>
              <a:rPr lang="en-US" altLang="zh-CN" sz="1600" dirty="0" smtClean="0">
                <a:solidFill>
                  <a:schemeClr val="bg1"/>
                </a:solidFill>
              </a:rPr>
              <a:t>Autodesk</a:t>
            </a:r>
          </a:p>
        </p:txBody>
      </p:sp>
      <p:sp>
        <p:nvSpPr>
          <p:cNvPr id="34" name="TextBox 33"/>
          <p:cNvSpPr txBox="1"/>
          <p:nvPr/>
        </p:nvSpPr>
        <p:spPr>
          <a:xfrm>
            <a:off x="4714876" y="2857496"/>
            <a:ext cx="1214447" cy="338554"/>
          </a:xfrm>
          <a:prstGeom prst="rect">
            <a:avLst/>
          </a:prstGeom>
          <a:solidFill>
            <a:schemeClr val="accent1">
              <a:lumMod val="60000"/>
              <a:lumOff val="40000"/>
            </a:schemeClr>
          </a:solidFill>
        </p:spPr>
        <p:txBody>
          <a:bodyPr wrap="square" rtlCol="0">
            <a:spAutoFit/>
          </a:bodyPr>
          <a:lstStyle/>
          <a:p>
            <a:pPr algn="ctr"/>
            <a:r>
              <a:rPr lang="en-US" altLang="zh-CN" sz="1600" dirty="0" smtClean="0">
                <a:solidFill>
                  <a:schemeClr val="bg1"/>
                </a:solidFill>
              </a:rPr>
              <a:t>Adobe</a:t>
            </a:r>
          </a:p>
        </p:txBody>
      </p:sp>
      <p:sp>
        <p:nvSpPr>
          <p:cNvPr id="35" name="TextBox 34"/>
          <p:cNvSpPr txBox="1"/>
          <p:nvPr/>
        </p:nvSpPr>
        <p:spPr>
          <a:xfrm>
            <a:off x="3000364" y="3376199"/>
            <a:ext cx="1214447" cy="461665"/>
          </a:xfrm>
          <a:prstGeom prst="rect">
            <a:avLst/>
          </a:prstGeom>
          <a:solidFill>
            <a:schemeClr val="accent1">
              <a:lumMod val="60000"/>
              <a:lumOff val="40000"/>
            </a:schemeClr>
          </a:solidFill>
        </p:spPr>
        <p:txBody>
          <a:bodyPr wrap="square" rtlCol="0" anchor="ctr">
            <a:spAutoFit/>
          </a:bodyPr>
          <a:lstStyle/>
          <a:p>
            <a:pPr algn="ctr"/>
            <a:r>
              <a:rPr lang="en-US" altLang="zh-CN" sz="2400" b="1" dirty="0" smtClean="0">
                <a:solidFill>
                  <a:schemeClr val="bg1"/>
                </a:solidFill>
              </a:rPr>
              <a:t>…</a:t>
            </a:r>
          </a:p>
        </p:txBody>
      </p:sp>
      <p:sp>
        <p:nvSpPr>
          <p:cNvPr id="36" name="笑脸 35">
            <a:hlinkClick r:id="rId2" action="ppaction://hlinksldjump" highlightClick="1"/>
          </p:cNvPr>
          <p:cNvSpPr/>
          <p:nvPr/>
        </p:nvSpPr>
        <p:spPr>
          <a:xfrm>
            <a:off x="428596" y="428604"/>
            <a:ext cx="540000" cy="540000"/>
          </a:xfrm>
          <a:prstGeom prst="smileyFace">
            <a:avLst/>
          </a:prstGeom>
          <a:solidFill>
            <a:schemeClr val="accent6">
              <a:lumMod val="60000"/>
              <a:lumOff val="40000"/>
            </a:schemeClr>
          </a:solidFill>
          <a:ln>
            <a:solidFill>
              <a:srgbClr val="00B050"/>
            </a:solidFill>
          </a:ln>
          <a:effectLst>
            <a:glow rad="228600">
              <a:schemeClr val="accent3">
                <a:satMod val="175000"/>
                <a:alpha val="40000"/>
              </a:schemeClr>
            </a:glow>
            <a:outerShdw blurRad="40000" dist="23000" dir="5400000" rotWithShape="0">
              <a:srgbClr val="000000">
                <a:alpha val="35000"/>
              </a:srgbClr>
            </a:outerShdw>
          </a:effectLst>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22" name="TextBox 21"/>
          <p:cNvSpPr txBox="1"/>
          <p:nvPr/>
        </p:nvSpPr>
        <p:spPr>
          <a:xfrm>
            <a:off x="3786182" y="142852"/>
            <a:ext cx="1571636"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2400" dirty="0" smtClean="0">
                <a:solidFill>
                  <a:schemeClr val="bg1"/>
                </a:solidFill>
              </a:rPr>
              <a:t>Desktop</a:t>
            </a:r>
            <a:endParaRPr lang="en-US" altLang="zh-CN" sz="2400" dirty="0" smtClean="0">
              <a:solidFill>
                <a:schemeClr val="bg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流畅">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363</TotalTime>
  <Words>733</Words>
  <Application>Microsoft Office PowerPoint</Application>
  <PresentationFormat>全屏显示(4:3)</PresentationFormat>
  <Paragraphs>84</Paragraphs>
  <Slides>10</Slides>
  <Notes>0</Notes>
  <HiddenSlides>0</HiddenSlides>
  <MMClips>0</MMClips>
  <ScaleCrop>false</ScaleCrop>
  <HeadingPairs>
    <vt:vector size="4" baseType="variant">
      <vt:variant>
        <vt:lpstr>主题</vt:lpstr>
      </vt:variant>
      <vt:variant>
        <vt:i4>1</vt:i4>
      </vt:variant>
      <vt:variant>
        <vt:lpstr>幻灯片标题</vt:lpstr>
      </vt:variant>
      <vt:variant>
        <vt:i4>10</vt:i4>
      </vt:variant>
    </vt:vector>
  </HeadingPairs>
  <TitlesOfParts>
    <vt:vector size="11" baseType="lpstr">
      <vt:lpstr>Office 主题</vt:lpstr>
      <vt:lpstr>Brand new universal operating system (desktop &amp; mobile)</vt:lpstr>
      <vt:lpstr>幻灯片 2</vt:lpstr>
      <vt:lpstr>幻灯片 3</vt:lpstr>
      <vt:lpstr>幻灯片 4</vt:lpstr>
      <vt:lpstr>幻灯片 5</vt:lpstr>
      <vt:lpstr>幻灯片 6</vt:lpstr>
      <vt:lpstr>幻灯片 7</vt:lpstr>
      <vt:lpstr>幻灯片 8</vt:lpstr>
      <vt:lpstr>幻灯片 9</vt:lpstr>
      <vt:lpstr>幻灯片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全新通用操作系统（桌面端&amp;移动端）</dc:title>
  <dc:creator>Pi@wozuiqiang.com</dc:creator>
  <cp:lastModifiedBy>Pi@wozuiqiang.com</cp:lastModifiedBy>
  <cp:revision>48</cp:revision>
  <dcterms:created xsi:type="dcterms:W3CDTF">2025-10-29T12:01:06Z</dcterms:created>
  <dcterms:modified xsi:type="dcterms:W3CDTF">2025-10-30T08:30:49Z</dcterms:modified>
</cp:coreProperties>
</file>